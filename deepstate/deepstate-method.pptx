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talk: this is a method explanation, not a battlefield claim. We measure changes in DeepState's published classification using exact polygon geometry.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motivation: a single geographic event can straddle an oblast boundary, so DeepState's per-oblast statistics split it into two buckets.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in three steps: intersect, slide windows across the resulting geometry, keep the densest window. The windows follow the change, not the oblast.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arithmetic. 39.72 confirmed liberated plus 28.77 became contested equals 68.49 km2 that DeepState no longer maps as occupied. Say explicitly: this is not 68.49 km2 liberated.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transitions side by side. Then the takeaway: a gray total on its own is ambiguous, because occupied to gray and liberated to gray point in opposite directions. That is why the method compares the same coordinates rather than category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snapshot is GeoJSON: exact coordinates plus a machine-readable status field. Stress the disclaimer: we measure DeepState's classification, not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operation. Walk the three panels left to right: baseline occupied, latest liberated, and the exact geometric intersection. Every coordinate in the result satisfies both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Anti-distortion argument. Polygons are unioned by status first, then intersected — so the size and count of source polygons never inflate the result. Use the README's 100 km² / 2 km²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Degrees are not square kilometres. The comparison is reprojected to EPSG:3035, an equal-area CRS, so areas are consistent across latitudes.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Two-part validation slide: the 15x15 km square is a search window, not a measurement. Overlapping windows on a 5 km stride keep a change cluster from being split by an arbitrary grid line; the stride changes which window wins, never the gain geometry.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+120 km2 figure was misleading (Aug 4 to Aug 13). These are category totals, not transitions. Note the three layers fall from 296 to 275 km2 — not a conserved land-accounting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accounting check: inside a fixed mask, every square metre gets a before-state and an after-state, so all flows are explicit. Only the occupied to liberated cell counts as confirmed reclaimed.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68.49 km2 of mapped Russian control lost, then split it: 39.72 confirmed liberated, 28.77 contested, 0.00 newly occupied. Only the 39.72 is described as confirmed reclaimed. The hotspot straddles the Dnipropetrovsk-Donetsk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rigor: what the calculation establishes and what it does not. All limitations are documented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sv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952500" y="1847255"/>
            <a:ext cx="18021300" cy="421928"/>
          </a:xfrm>
          <a:prstGeom prst="rect">
            <a:avLst/>
          </a:prstGeom>
          <a:noFill/>
          <a:ln/>
        </p:spPr>
        <p:txBody>
          <a:bodyPr wrap="square" lIns="25400" tIns="25400" rIns="25400" bIns="25400" rtlCol="0" anchor="t">
            <a:normAutofit/>
          </a:bodyPr>
          <a:lstStyle/>
          <a:p>
            <a:pPr algn="l" indent="0" marL="0">
              <a:lnSpc>
                <a:spcPct val="116812"/>
              </a:lnSpc>
              <a:buNone/>
            </a:pPr>
            <a:r>
              <a:rPr lang="en-US" sz="1950" spc="300" kern="0" dirty="0">
                <a:solidFill>
                  <a:srgbClr val="00D1FF"/>
                </a:solidFill>
                <a:latin typeface="JetBrains Mono" pitchFamily="34" charset="0"/>
                <a:ea typeface="JetBrains Mono" pitchFamily="34" charset="-122"/>
                <a:cs typeface="JetBrains Mono" pitchFamily="34" charset="-120"/>
              </a:rPr>
              <a:t>METHOD NOTE · GIS ANALYSIS</a:t>
            </a:r>
            <a:endParaRPr lang="en-US" sz="1950" dirty="0"/>
          </a:p>
        </p:txBody>
      </p:sp>
      <p:sp>
        <p:nvSpPr>
          <p:cNvPr id="3" name="Text 1"/>
          <p:cNvSpPr/>
          <p:nvPr/>
        </p:nvSpPr>
        <p:spPr>
          <a:xfrm>
            <a:off x="952500" y="2612082"/>
            <a:ext cx="14716125" cy="1979563"/>
          </a:xfrm>
          <a:prstGeom prst="rect">
            <a:avLst/>
          </a:prstGeom>
          <a:noFill/>
          <a:ln/>
        </p:spPr>
        <p:txBody>
          <a:bodyPr wrap="square" lIns="25400" tIns="25400" rIns="25400" bIns="25400" rtlCol="0" anchor="t">
            <a:normAutofit/>
          </a:bodyPr>
          <a:lstStyle/>
          <a:p>
            <a:pPr algn="l" indent="0" marL="0">
              <a:lnSpc>
                <a:spcPct val="65125"/>
              </a:lnSpc>
              <a:buNone/>
            </a:pPr>
            <a:r>
              <a:rPr lang="en-US" sz="7800" spc="75" kern="0" dirty="0">
                <a:solidFill>
                  <a:srgbClr val="FFFFFF"/>
                </a:solidFill>
                <a:latin typeface="Anton" pitchFamily="34" charset="0"/>
                <a:ea typeface="Anton" pitchFamily="34" charset="-122"/>
                <a:cs typeface="Anton" pitchFamily="34" charset="-120"/>
              </a:rPr>
              <a:t>MEASURING BATTLEFIELD CHANGE FROM DEEPSTATE GEOMETRY</a:t>
            </a:r>
            <a:endParaRPr lang="en-US" sz="7800" dirty="0"/>
          </a:p>
        </p:txBody>
      </p:sp>
      <p:sp>
        <p:nvSpPr>
          <p:cNvPr id="4" name="Text 2"/>
          <p:cNvSpPr/>
          <p:nvPr/>
        </p:nvSpPr>
        <p:spPr>
          <a:xfrm>
            <a:off x="952500" y="4934545"/>
            <a:ext cx="12950190" cy="1104900"/>
          </a:xfrm>
          <a:prstGeom prst="rect">
            <a:avLst/>
          </a:prstGeom>
          <a:noFill/>
          <a:ln/>
        </p:spPr>
        <p:txBody>
          <a:bodyPr wrap="square" lIns="25400" tIns="25400" rIns="25400" bIns="25400" rtlCol="0" anchor="t">
            <a:normAutofit/>
          </a:bodyPr>
          <a:lstStyle/>
          <a:p>
            <a:pPr algn="l" indent="0" marL="0">
              <a:lnSpc>
                <a:spcPct val="115464"/>
              </a:lnSpc>
              <a:buNone/>
            </a:pPr>
            <a:r>
              <a:rPr lang="en-US" sz="3000" dirty="0">
                <a:solidFill>
                  <a:srgbClr val="AAB8C2"/>
                </a:solidFill>
                <a:latin typeface="Inter" pitchFamily="34" charset="0"/>
                <a:ea typeface="Inter" pitchFamily="34" charset="-122"/>
                <a:cs typeface="Inter" pitchFamily="34" charset="-120"/>
              </a:rPr>
              <a:t>How polygon intersection separates occupied → liberated from occupied → gray/contested. 04–13 Aug 2026.</a:t>
            </a:r>
            <a:endParaRPr lang="en-US" sz="3000" dirty="0"/>
          </a:p>
        </p:txBody>
      </p:sp>
      <p:sp>
        <p:nvSpPr>
          <p:cNvPr id="5" name="Shape 3"/>
          <p:cNvSpPr/>
          <p:nvPr/>
        </p:nvSpPr>
        <p:spPr>
          <a:xfrm>
            <a:off x="952500" y="6610945"/>
            <a:ext cx="5924550" cy="2114550"/>
          </a:xfrm>
          <a:prstGeom prst="roundRect">
            <a:avLst>
              <a:gd name="adj" fmla="val 3604"/>
            </a:avLst>
          </a:prstGeom>
          <a:solidFill>
            <a:srgbClr val="122F4A"/>
          </a:solidFill>
          <a:ln w="9525">
            <a:solidFill>
              <a:srgbClr val="1F3A5F"/>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6610945"/>
            <a:ext cx="5924550" cy="2114550"/>
          </a:xfrm>
          <a:prstGeom prst="rect">
            <a:avLst/>
          </a:prstGeom>
        </p:spPr>
      </p:pic>
      <p:sp>
        <p:nvSpPr>
          <p:cNvPr id="7" name="Text 4"/>
          <p:cNvSpPr/>
          <p:nvPr/>
        </p:nvSpPr>
        <p:spPr>
          <a:xfrm>
            <a:off x="7219950" y="7119565"/>
            <a:ext cx="4096985" cy="1135335"/>
          </a:xfrm>
          <a:prstGeom prst="rect">
            <a:avLst/>
          </a:prstGeom>
          <a:noFill/>
          <a:ln/>
        </p:spPr>
        <p:txBody>
          <a:bodyPr wrap="square" lIns="25400" tIns="25400" rIns="25400" bIns="25400" rtlCol="0" anchor="t">
            <a:normAutofit/>
          </a:bodyPr>
          <a:lstStyle/>
          <a:p>
            <a:pPr algn="l" indent="0" marL="0">
              <a:lnSpc>
                <a:spcPct val="121905"/>
              </a:lnSpc>
              <a:buNone/>
            </a:pPr>
            <a:r>
              <a:rPr lang="en-US" sz="1800" dirty="0">
                <a:solidFill>
                  <a:srgbClr val="AAB8C2"/>
                </a:solidFill>
                <a:latin typeface="JetBrains Mono" pitchFamily="34" charset="0"/>
                <a:ea typeface="JetBrains Mono" pitchFamily="34" charset="-122"/>
                <a:cs typeface="JetBrains Mono" pitchFamily="34" charset="-120"/>
              </a:rPr>
              <a:t>Orange · DeepState occupied Cyan · DeepState liberated Overlap · measured transition</a:t>
            </a:r>
            <a:endParaRPr lang="en-US" sz="1800" dirty="0"/>
          </a:p>
        </p:txBody>
      </p:sp>
      <p:sp>
        <p:nvSpPr>
          <p:cNvPr id="8" name="Text 5"/>
          <p:cNvSpPr/>
          <p:nvPr/>
        </p:nvSpPr>
        <p:spPr>
          <a:xfrm>
            <a:off x="952500" y="9646965"/>
            <a:ext cx="18021300"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Copyright Walker Rowe, Hypatia Academy Cyprus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952500" y="1992660"/>
            <a:ext cx="18021300" cy="678135"/>
          </a:xfrm>
          <a:prstGeom prst="rect">
            <a:avLst/>
          </a:prstGeom>
          <a:noFill/>
          <a:ln/>
        </p:spPr>
        <p:txBody>
          <a:bodyPr wrap="square" lIns="25400" tIns="25400" rIns="25400" bIns="25400" rtlCol="0" anchor="t">
            <a:normAutofit/>
          </a:bodyPr>
          <a:lstStyle/>
          <a:p>
            <a:pPr algn="l" indent="0" marL="0">
              <a:lnSpc>
                <a:spcPct val="69637"/>
              </a:lnSpc>
              <a:buNone/>
            </a:pPr>
            <a:r>
              <a:rPr lang="en-US" sz="4800" spc="24" kern="0" dirty="0">
                <a:solidFill>
                  <a:srgbClr val="FFFFFF"/>
                </a:solidFill>
                <a:latin typeface="Anton" pitchFamily="34" charset="0"/>
                <a:ea typeface="Anton" pitchFamily="34" charset="-122"/>
                <a:cs typeface="Anton" pitchFamily="34" charset="-120"/>
              </a:rPr>
              <a:t>THE PROBLEM WITH ADMINISTRATIVE BOUNDARIES</a:t>
            </a:r>
            <a:endParaRPr lang="en-US" sz="4800" dirty="0"/>
          </a:p>
        </p:txBody>
      </p:sp>
      <p:sp>
        <p:nvSpPr>
          <p:cNvPr id="3" name="Shape 1"/>
          <p:cNvSpPr/>
          <p:nvPr/>
        </p:nvSpPr>
        <p:spPr>
          <a:xfrm>
            <a:off x="952500" y="3277642"/>
            <a:ext cx="8321204" cy="5000327"/>
          </a:xfrm>
          <a:prstGeom prst="roundRect">
            <a:avLst>
              <a:gd name="adj" fmla="val 1524"/>
            </a:avLst>
          </a:prstGeom>
          <a:solidFill>
            <a:srgbClr val="122F4A"/>
          </a:solidFill>
          <a:ln w="9525">
            <a:solidFill>
              <a:srgbClr val="1F3A5F"/>
            </a:solidFill>
            <a:prstDash val="solid"/>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3277642"/>
            <a:ext cx="8321204" cy="5000327"/>
          </a:xfrm>
          <a:prstGeom prst="rect">
            <a:avLst/>
          </a:prstGeom>
        </p:spPr>
      </p:pic>
      <p:sp>
        <p:nvSpPr>
          <p:cNvPr id="5" name="Text 2"/>
          <p:cNvSpPr/>
          <p:nvPr/>
        </p:nvSpPr>
        <p:spPr>
          <a:xfrm>
            <a:off x="9788054" y="3166095"/>
            <a:ext cx="7773870" cy="1028700"/>
          </a:xfrm>
          <a:prstGeom prst="rect">
            <a:avLst/>
          </a:prstGeom>
          <a:noFill/>
          <a:ln/>
        </p:spPr>
        <p:txBody>
          <a:bodyPr wrap="square" lIns="25400" tIns="25400" rIns="25400" bIns="25400" rtlCol="0" anchor="t">
            <a:normAutofit/>
          </a:bodyPr>
          <a:lstStyle/>
          <a:p>
            <a:pPr algn="l" indent="0" marL="0">
              <a:lnSpc>
                <a:spcPct val="107216"/>
              </a:lnSpc>
              <a:buNone/>
            </a:pPr>
            <a:r>
              <a:rPr lang="en-US" sz="3000" dirty="0">
                <a:solidFill>
                  <a:srgbClr val="FFFFFF"/>
                </a:solidFill>
                <a:latin typeface="Inter" pitchFamily="34" charset="0"/>
                <a:ea typeface="Inter" pitchFamily="34" charset="-122"/>
                <a:cs typeface="Inter" pitchFamily="34" charset="-120"/>
              </a:rPr>
              <a:t>The battlefield change crosses the Donetsk–Dnipropetrovsk boundary.</a:t>
            </a:r>
            <a:endParaRPr lang="en-US" sz="3000" dirty="0"/>
          </a:p>
        </p:txBody>
      </p:sp>
      <p:sp>
        <p:nvSpPr>
          <p:cNvPr id="6" name="Shape 3"/>
          <p:cNvSpPr/>
          <p:nvPr/>
        </p:nvSpPr>
        <p:spPr>
          <a:xfrm>
            <a:off x="9788054" y="4442445"/>
            <a:ext cx="7547446" cy="2061121"/>
          </a:xfrm>
          <a:prstGeom prst="roundRect">
            <a:avLst>
              <a:gd name="adj" fmla="val 3697"/>
            </a:avLst>
          </a:prstGeom>
          <a:solidFill>
            <a:srgbClr val="122F4A"/>
          </a:solidFill>
          <a:ln w="9525">
            <a:solidFill>
              <a:srgbClr val="1F3A5F"/>
            </a:solidFill>
            <a:prstDash val="solid"/>
          </a:ln>
        </p:spPr>
      </p:sp>
      <p:sp>
        <p:nvSpPr>
          <p:cNvPr id="7" name="Text 4"/>
          <p:cNvSpPr/>
          <p:nvPr/>
        </p:nvSpPr>
        <p:spPr>
          <a:xfrm>
            <a:off x="10064279" y="4718670"/>
            <a:ext cx="7204846" cy="472380"/>
          </a:xfrm>
          <a:prstGeom prst="rect">
            <a:avLst/>
          </a:prstGeom>
          <a:noFill/>
          <a:ln/>
        </p:spPr>
        <p:txBody>
          <a:bodyPr wrap="square" lIns="25400" tIns="25400" rIns="25400" bIns="25400" rtlCol="0" anchor="t">
            <a:normAutofit/>
          </a:bodyPr>
          <a:lstStyle/>
          <a:p>
            <a:pPr algn="l" indent="0" marL="0">
              <a:lnSpc>
                <a:spcPct val="144762"/>
              </a:lnSpc>
              <a:buNone/>
            </a:pPr>
            <a:r>
              <a:rPr lang="en-US" sz="1800" spc="225" kern="0" dirty="0">
                <a:solidFill>
                  <a:srgbClr val="AAB8C2"/>
                </a:solidFill>
                <a:latin typeface="JetBrains Mono" pitchFamily="34" charset="0"/>
                <a:ea typeface="JetBrains Mono" pitchFamily="34" charset="-122"/>
                <a:cs typeface="JetBrains Mono" pitchFamily="34" charset="-120"/>
              </a:rPr>
              <a:t>DEEPSTATE STATISTICS</a:t>
            </a:r>
            <a:endParaRPr lang="en-US" sz="1800" dirty="0"/>
          </a:p>
        </p:txBody>
      </p:sp>
      <p:sp>
        <p:nvSpPr>
          <p:cNvPr id="8" name="Text 5"/>
          <p:cNvSpPr/>
          <p:nvPr/>
        </p:nvSpPr>
        <p:spPr>
          <a:xfrm>
            <a:off x="10064279" y="5286301"/>
            <a:ext cx="7204846" cy="508620"/>
          </a:xfrm>
          <a:prstGeom prst="rect">
            <a:avLst/>
          </a:prstGeom>
          <a:noFill/>
          <a:ln/>
        </p:spPr>
        <p:txBody>
          <a:bodyPr wrap="square" lIns="25400" tIns="25400" rIns="25400" bIns="25400" rtlCol="0" anchor="t">
            <a:normAutofit/>
          </a:bodyPr>
          <a:lstStyle/>
          <a:p>
            <a:pPr algn="l" indent="0" marL="0">
              <a:lnSpc>
                <a:spcPct val="143188"/>
              </a:lnSpc>
              <a:buNone/>
            </a:pPr>
            <a:r>
              <a:rPr lang="en-US" sz="1950" dirty="0">
                <a:solidFill>
                  <a:srgbClr val="FFFFFF"/>
                </a:solidFill>
                <a:latin typeface="JetBrains Mono" pitchFamily="34" charset="0"/>
                <a:ea typeface="JetBrains Mono" pitchFamily="34" charset="-122"/>
                <a:cs typeface="JetBrains Mono" pitchFamily="34" charset="-120"/>
              </a:rPr>
              <a:t>Donetsk </a:t>
            </a:r>
            <a:pPr algn="l" indent="0" marL="0">
              <a:lnSpc>
                <a:spcPct val="143188"/>
              </a:lnSpc>
              <a:buNone/>
            </a:pPr>
            <a:r>
              <a:rPr lang="en-US" sz="1950" dirty="0">
                <a:solidFill>
                  <a:srgbClr val="AAB8C2"/>
                </a:solidFill>
                <a:latin typeface="JetBrains Mono" pitchFamily="34" charset="0"/>
                <a:ea typeface="JetBrains Mono" pitchFamily="34" charset="-122"/>
                <a:cs typeface="JetBrains Mono" pitchFamily="34" charset="-120"/>
              </a:rPr>
              <a:t>→ one bucket</a:t>
            </a:r>
            <a:endParaRPr lang="en-US" sz="1950" dirty="0"/>
          </a:p>
        </p:txBody>
      </p:sp>
      <p:sp>
        <p:nvSpPr>
          <p:cNvPr id="9" name="Text 6"/>
          <p:cNvSpPr/>
          <p:nvPr/>
        </p:nvSpPr>
        <p:spPr>
          <a:xfrm>
            <a:off x="10064279" y="5756821"/>
            <a:ext cx="7204846" cy="508620"/>
          </a:xfrm>
          <a:prstGeom prst="rect">
            <a:avLst/>
          </a:prstGeom>
          <a:noFill/>
          <a:ln/>
        </p:spPr>
        <p:txBody>
          <a:bodyPr wrap="square" lIns="25400" tIns="25400" rIns="25400" bIns="25400" rtlCol="0" anchor="t">
            <a:normAutofit/>
          </a:bodyPr>
          <a:lstStyle/>
          <a:p>
            <a:pPr algn="l" indent="0" marL="0">
              <a:lnSpc>
                <a:spcPct val="143188"/>
              </a:lnSpc>
              <a:buNone/>
            </a:pPr>
            <a:r>
              <a:rPr lang="en-US" sz="1950" dirty="0">
                <a:solidFill>
                  <a:srgbClr val="FFFFFF"/>
                </a:solidFill>
                <a:latin typeface="JetBrains Mono" pitchFamily="34" charset="0"/>
                <a:ea typeface="JetBrains Mono" pitchFamily="34" charset="-122"/>
                <a:cs typeface="JetBrains Mono" pitchFamily="34" charset="-120"/>
              </a:rPr>
              <a:t>Dnipropetrovsk </a:t>
            </a:r>
            <a:pPr algn="l" indent="0" marL="0">
              <a:lnSpc>
                <a:spcPct val="143188"/>
              </a:lnSpc>
              <a:buNone/>
            </a:pPr>
            <a:r>
              <a:rPr lang="en-US" sz="1950" dirty="0">
                <a:solidFill>
                  <a:srgbClr val="AAB8C2"/>
                </a:solidFill>
                <a:latin typeface="JetBrains Mono" pitchFamily="34" charset="0"/>
                <a:ea typeface="JetBrains Mono" pitchFamily="34" charset="-122"/>
                <a:cs typeface="JetBrains Mono" pitchFamily="34" charset="-120"/>
              </a:rPr>
              <a:t>→ another bucket</a:t>
            </a:r>
            <a:endParaRPr lang="en-US" sz="1950" dirty="0"/>
          </a:p>
        </p:txBody>
      </p:sp>
      <p:sp>
        <p:nvSpPr>
          <p:cNvPr id="10" name="Text 7"/>
          <p:cNvSpPr/>
          <p:nvPr/>
        </p:nvSpPr>
        <p:spPr>
          <a:xfrm>
            <a:off x="9788054" y="6789316"/>
            <a:ext cx="7773870" cy="1638300"/>
          </a:xfrm>
          <a:prstGeom prst="rect">
            <a:avLst/>
          </a:prstGeom>
          <a:noFill/>
          <a:ln/>
        </p:spPr>
        <p:txBody>
          <a:bodyPr wrap="square" lIns="25400" tIns="25400" rIns="25400" bIns="25400" rtlCol="0" anchor="t">
            <a:normAutofit/>
          </a:bodyPr>
          <a:lstStyle/>
          <a:p>
            <a:pPr algn="l" indent="0" marL="0">
              <a:lnSpc>
                <a:spcPct val="116667"/>
              </a:lnSpc>
              <a:buNone/>
            </a:pPr>
            <a:r>
              <a:rPr lang="en-US" sz="2250" dirty="0">
                <a:solidFill>
                  <a:srgbClr val="AAB8C2"/>
                </a:solidFill>
                <a:latin typeface="Inter" pitchFamily="34" charset="0"/>
                <a:ea typeface="Inter" pitchFamily="34" charset="-122"/>
                <a:cs typeface="Inter" pitchFamily="34" charset="-120"/>
              </a:rPr>
              <a:t>One geographic event can therefore be split between two administrative statistics. DeepState reports by oblast; this method follows the geographic transition itself.</a:t>
            </a:r>
            <a:endParaRPr lang="en-US" sz="2250" dirty="0"/>
          </a:p>
        </p:txBody>
      </p:sp>
      <p:sp>
        <p:nvSpPr>
          <p:cNvPr id="11" name="Text 8"/>
          <p:cNvSpPr/>
          <p:nvPr/>
        </p:nvSpPr>
        <p:spPr>
          <a:xfrm>
            <a:off x="952500" y="9646965"/>
            <a:ext cx="18021300"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Copyright Walker Rowe, Hypatia Academy Cyprus 2026</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952500" y="1661815"/>
            <a:ext cx="18021300" cy="678135"/>
          </a:xfrm>
          <a:prstGeom prst="rect">
            <a:avLst/>
          </a:prstGeom>
          <a:noFill/>
          <a:ln/>
        </p:spPr>
        <p:txBody>
          <a:bodyPr wrap="square" lIns="25400" tIns="25400" rIns="25400" bIns="25400" rtlCol="0" anchor="t">
            <a:normAutofit/>
          </a:bodyPr>
          <a:lstStyle/>
          <a:p>
            <a:pPr algn="l" indent="0" marL="0">
              <a:lnSpc>
                <a:spcPct val="69637"/>
              </a:lnSpc>
              <a:buNone/>
            </a:pPr>
            <a:r>
              <a:rPr lang="en-US" sz="4800" spc="24" kern="0" dirty="0">
                <a:solidFill>
                  <a:srgbClr val="FFFFFF"/>
                </a:solidFill>
                <a:latin typeface="Anton" pitchFamily="34" charset="0"/>
                <a:ea typeface="Anton" pitchFamily="34" charset="-122"/>
                <a:cs typeface="Anton" pitchFamily="34" charset="-120"/>
              </a:rPr>
              <a:t>MY METHOD FOLLOWS THE CHANGE, NOT THE OBLAST</a:t>
            </a:r>
            <a:endParaRPr lang="en-US" sz="4800" dirty="0"/>
          </a:p>
        </p:txBody>
      </p:sp>
      <p:sp>
        <p:nvSpPr>
          <p:cNvPr id="3" name="Shape 1"/>
          <p:cNvSpPr/>
          <p:nvPr/>
        </p:nvSpPr>
        <p:spPr>
          <a:xfrm>
            <a:off x="952500" y="3424238"/>
            <a:ext cx="7769126" cy="4669036"/>
          </a:xfrm>
          <a:prstGeom prst="roundRect">
            <a:avLst>
              <a:gd name="adj" fmla="val 1632"/>
            </a:avLst>
          </a:prstGeom>
          <a:solidFill>
            <a:srgbClr val="122F4A"/>
          </a:solidFill>
          <a:ln w="9525">
            <a:solidFill>
              <a:srgbClr val="1F3A5F"/>
            </a:solidFill>
            <a:prstDash val="solid"/>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3424238"/>
            <a:ext cx="7769126" cy="4669036"/>
          </a:xfrm>
          <a:prstGeom prst="rect">
            <a:avLst/>
          </a:prstGeom>
        </p:spPr>
      </p:pic>
      <p:sp>
        <p:nvSpPr>
          <p:cNvPr id="5" name="Text 2"/>
          <p:cNvSpPr/>
          <p:nvPr/>
        </p:nvSpPr>
        <p:spPr>
          <a:xfrm>
            <a:off x="9093101" y="2797150"/>
            <a:ext cx="9023777" cy="442913"/>
          </a:xfrm>
          <a:prstGeom prst="rect">
            <a:avLst/>
          </a:prstGeom>
          <a:noFill/>
          <a:ln/>
        </p:spPr>
        <p:txBody>
          <a:bodyPr wrap="square" lIns="25400" tIns="25400" rIns="25400" bIns="25400" rtlCol="0" anchor="t">
            <a:normAutofit/>
          </a:bodyPr>
          <a:lstStyle/>
          <a:p>
            <a:pPr algn="l" marL="428625" indent="-428625">
              <a:lnSpc>
                <a:spcPct val="116667"/>
              </a:lnSpc>
              <a:buSzPct val="100000"/>
              <a:buFont typeface="+mj-lt"/>
              <a:buAutoNum type="arabicPeriod" startAt="1"/>
            </a:pPr>
            <a:r>
              <a:rPr lang="en-US" sz="2250" dirty="0">
                <a:solidFill>
                  <a:srgbClr val="FFFFFF"/>
                </a:solidFill>
                <a:latin typeface="Inter" pitchFamily="34" charset="0"/>
                <a:ea typeface="Inter" pitchFamily="34" charset="-122"/>
                <a:cs typeface="Inter" pitchFamily="34" charset="-120"/>
              </a:rPr>
              <a:t>Calculate </a:t>
            </a:r>
            <a:pPr algn="l" indent="0" marL="0">
              <a:lnSpc>
                <a:spcPct val="116667"/>
              </a:lnSpc>
              <a:buNone/>
            </a:pPr>
            <a:r>
              <a:rPr lang="en-US" sz="2250" dirty="0">
                <a:solidFill>
                  <a:srgbClr val="00D1FF"/>
                </a:solidFill>
                <a:latin typeface="JetBrains Mono" pitchFamily="34" charset="0"/>
                <a:ea typeface="JetBrains Mono" pitchFamily="34" charset="-122"/>
                <a:cs typeface="JetBrains Mono" pitchFamily="34" charset="-120"/>
              </a:rPr>
              <a:t>occupied_before ∩ liberated_latest</a:t>
            </a:r>
            <a:endParaRPr lang="en-US" sz="2250" dirty="0"/>
          </a:p>
        </p:txBody>
      </p:sp>
      <p:sp>
        <p:nvSpPr>
          <p:cNvPr id="6" name="Text 3"/>
          <p:cNvSpPr/>
          <p:nvPr/>
        </p:nvSpPr>
        <p:spPr>
          <a:xfrm>
            <a:off x="9093101" y="3373413"/>
            <a:ext cx="8476812" cy="838200"/>
          </a:xfrm>
          <a:prstGeom prst="rect">
            <a:avLst/>
          </a:prstGeom>
          <a:noFill/>
          <a:ln/>
        </p:spPr>
        <p:txBody>
          <a:bodyPr wrap="square" lIns="25400" tIns="25400" rIns="25400" bIns="25400" rtlCol="0" anchor="t">
            <a:normAutofit/>
          </a:bodyPr>
          <a:lstStyle/>
          <a:p>
            <a:pPr algn="l" marL="428625" indent="-428625">
              <a:lnSpc>
                <a:spcPct val="116667"/>
              </a:lnSpc>
              <a:buSzPct val="100000"/>
              <a:buFont typeface="+mj-lt"/>
              <a:buAutoNum type="arabicPeriod" startAt="2"/>
              <a:tabLst>
                <a:tab pos="428625" algn="l"/>
              </a:tabLst>
            </a:pPr>
            <a:r>
              <a:rPr lang="en-US" sz="2250" dirty="0">
                <a:solidFill>
                  <a:srgbClr val="FFFFFF"/>
                </a:solidFill>
                <a:latin typeface="Inter" pitchFamily="34" charset="0"/>
                <a:ea typeface="Inter" pitchFamily="34" charset="-122"/>
                <a:cs typeface="Inter" pitchFamily="34" charset="-120"/>
              </a:rPr>
              <a:t>Slide overlapping 15 × 15 km windows across that geometry</a:t>
            </a:r>
            <a:endParaRPr lang="en-US" sz="2250" dirty="0"/>
          </a:p>
        </p:txBody>
      </p:sp>
      <p:sp>
        <p:nvSpPr>
          <p:cNvPr id="7" name="Text 4"/>
          <p:cNvSpPr/>
          <p:nvPr/>
        </p:nvSpPr>
        <p:spPr>
          <a:xfrm>
            <a:off x="9093101" y="4344963"/>
            <a:ext cx="9023777" cy="438150"/>
          </a:xfrm>
          <a:prstGeom prst="rect">
            <a:avLst/>
          </a:prstGeom>
          <a:noFill/>
          <a:ln/>
        </p:spPr>
        <p:txBody>
          <a:bodyPr wrap="square" lIns="25400" tIns="25400" rIns="25400" bIns="25400" rtlCol="0" anchor="t">
            <a:normAutofit/>
          </a:bodyPr>
          <a:lstStyle/>
          <a:p>
            <a:pPr algn="l" marL="428625" indent="-428625">
              <a:lnSpc>
                <a:spcPct val="116667"/>
              </a:lnSpc>
              <a:buSzPct val="100000"/>
              <a:buFont typeface="+mj-lt"/>
              <a:buAutoNum type="arabicPeriod" startAt="3"/>
              <a:tabLst>
                <a:tab pos="428625" algn="l"/>
              </a:tabLst>
            </a:pPr>
            <a:r>
              <a:rPr lang="en-US" sz="2250" dirty="0">
                <a:solidFill>
                  <a:srgbClr val="FFFFFF"/>
                </a:solidFill>
                <a:latin typeface="Inter" pitchFamily="34" charset="0"/>
                <a:ea typeface="Inter" pitchFamily="34" charset="-122"/>
                <a:cs typeface="Inter" pitchFamily="34" charset="-120"/>
              </a:rPr>
              <a:t>Select the window containing the largest concentration</a:t>
            </a:r>
            <a:endParaRPr lang="en-US" sz="2250" dirty="0"/>
          </a:p>
        </p:txBody>
      </p:sp>
      <p:sp>
        <p:nvSpPr>
          <p:cNvPr id="8" name="Shape 5"/>
          <p:cNvSpPr/>
          <p:nvPr/>
        </p:nvSpPr>
        <p:spPr>
          <a:xfrm>
            <a:off x="9197876" y="4992663"/>
            <a:ext cx="8137624" cy="9525"/>
          </a:xfrm>
          <a:prstGeom prst="rect">
            <a:avLst/>
          </a:prstGeom>
          <a:solidFill>
            <a:srgbClr val="1F3A5F"/>
          </a:solidFill>
          <a:ln/>
        </p:spPr>
      </p:sp>
      <p:sp>
        <p:nvSpPr>
          <p:cNvPr id="9" name="Text 6"/>
          <p:cNvSpPr/>
          <p:nvPr/>
        </p:nvSpPr>
        <p:spPr>
          <a:xfrm>
            <a:off x="9197876" y="5230788"/>
            <a:ext cx="8381753" cy="1474291"/>
          </a:xfrm>
          <a:prstGeom prst="rect">
            <a:avLst/>
          </a:prstGeom>
          <a:noFill/>
          <a:ln/>
        </p:spPr>
        <p:txBody>
          <a:bodyPr wrap="square" lIns="25400" tIns="25400" rIns="25400" bIns="25400" rtlCol="0" anchor="t">
            <a:normAutofit/>
          </a:bodyPr>
          <a:lstStyle/>
          <a:p>
            <a:pPr algn="l" indent="0" marL="0">
              <a:lnSpc>
                <a:spcPct val="119683"/>
              </a:lnSpc>
              <a:buNone/>
            </a:pPr>
            <a:r>
              <a:rPr lang="en-US" sz="1950" dirty="0">
                <a:solidFill>
                  <a:srgbClr val="AAB8C2"/>
                </a:solidFill>
                <a:latin typeface="Inter" pitchFamily="34" charset="0"/>
                <a:ea typeface="Inter" pitchFamily="34" charset="-122"/>
                <a:cs typeface="Inter" pitchFamily="34" charset="-120"/>
              </a:rPr>
              <a:t>The DeepState polygons are not 15 × 15 km. The squares are only search windows. This is not more accurate than DeepState — it is more geographically precise for locating a local change, because it is not constrained by oblast boundaries.</a:t>
            </a:r>
            <a:endParaRPr lang="en-US" sz="1950" dirty="0"/>
          </a:p>
        </p:txBody>
      </p:sp>
      <p:sp>
        <p:nvSpPr>
          <p:cNvPr id="10" name="Shape 7"/>
          <p:cNvSpPr/>
          <p:nvPr/>
        </p:nvSpPr>
        <p:spPr>
          <a:xfrm>
            <a:off x="9197876" y="6914629"/>
            <a:ext cx="8137624" cy="1805806"/>
          </a:xfrm>
          <a:prstGeom prst="roundRect">
            <a:avLst>
              <a:gd name="adj" fmla="val 4220"/>
            </a:avLst>
          </a:prstGeom>
          <a:solidFill>
            <a:srgbClr val="1C3F60"/>
          </a:solidFill>
          <a:ln w="9525">
            <a:solidFill>
              <a:srgbClr val="00D1FF"/>
            </a:solidFill>
            <a:prstDash val="solid"/>
          </a:ln>
        </p:spPr>
      </p:sp>
      <p:sp>
        <p:nvSpPr>
          <p:cNvPr id="11" name="Text 8"/>
          <p:cNvSpPr/>
          <p:nvPr/>
        </p:nvSpPr>
        <p:spPr>
          <a:xfrm>
            <a:off x="9493151" y="7171804"/>
            <a:ext cx="8301782"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spc="225" kern="0" dirty="0">
                <a:solidFill>
                  <a:srgbClr val="00D1FF"/>
                </a:solidFill>
                <a:latin typeface="JetBrains Mono" pitchFamily="34" charset="0"/>
                <a:ea typeface="JetBrains Mono" pitchFamily="34" charset="-122"/>
                <a:cs typeface="JetBrains Mono" pitchFamily="34" charset="-120"/>
              </a:rPr>
              <a:t>WINNING HOTSPOT</a:t>
            </a:r>
            <a:endParaRPr lang="en-US" sz="1800" dirty="0"/>
          </a:p>
        </p:txBody>
      </p:sp>
      <p:sp>
        <p:nvSpPr>
          <p:cNvPr id="12" name="Text 9"/>
          <p:cNvSpPr/>
          <p:nvPr/>
        </p:nvSpPr>
        <p:spPr>
          <a:xfrm>
            <a:off x="9493151" y="7621339"/>
            <a:ext cx="7773486" cy="880021"/>
          </a:xfrm>
          <a:prstGeom prst="rect">
            <a:avLst/>
          </a:prstGeom>
          <a:noFill/>
          <a:ln/>
        </p:spPr>
        <p:txBody>
          <a:bodyPr wrap="square" lIns="25400" tIns="25400" rIns="25400" bIns="25400" rtlCol="0" anchor="t">
            <a:normAutofit/>
          </a:bodyPr>
          <a:lstStyle/>
          <a:p>
            <a:pPr algn="l" indent="0" marL="0">
              <a:lnSpc>
                <a:spcPct val="107805"/>
              </a:lnSpc>
              <a:buNone/>
            </a:pPr>
            <a:r>
              <a:rPr lang="en-US" sz="2550" dirty="0">
                <a:solidFill>
                  <a:srgbClr val="FFFFFF"/>
                </a:solidFill>
                <a:latin typeface="Inter" pitchFamily="34" charset="0"/>
                <a:ea typeface="Inter" pitchFamily="34" charset="-122"/>
                <a:cs typeface="Inter" pitchFamily="34" charset="-120"/>
              </a:rPr>
              <a:t>39.72 km² occupied → liberated </a:t>
            </a:r>
            <a:pPr algn="l" indent="0" marL="0">
              <a:lnSpc>
                <a:spcPct val="107805"/>
              </a:lnSpc>
              <a:buNone/>
            </a:pPr>
            <a:r>
              <a:rPr lang="en-US" sz="2550" dirty="0">
                <a:solidFill>
                  <a:srgbClr val="AAB8C2"/>
                </a:solidFill>
                <a:latin typeface="Inter" pitchFamily="34" charset="0"/>
                <a:ea typeface="Inter" pitchFamily="34" charset="-122"/>
                <a:cs typeface="Inter" pitchFamily="34" charset="-120"/>
              </a:rPr>
              <a:t>28.77 km² occupied → gray/contested</a:t>
            </a:r>
            <a:endParaRPr lang="en-US" sz="2550" dirty="0"/>
          </a:p>
        </p:txBody>
      </p:sp>
      <p:sp>
        <p:nvSpPr>
          <p:cNvPr id="13" name="Text 10"/>
          <p:cNvSpPr/>
          <p:nvPr/>
        </p:nvSpPr>
        <p:spPr>
          <a:xfrm>
            <a:off x="952500" y="9646965"/>
            <a:ext cx="18021300"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Copyright Walker Rowe, Hypatia Academy Cyprus 2026</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952500" y="1919883"/>
            <a:ext cx="18021300" cy="421928"/>
          </a:xfrm>
          <a:prstGeom prst="rect">
            <a:avLst/>
          </a:prstGeom>
          <a:noFill/>
          <a:ln/>
        </p:spPr>
        <p:txBody>
          <a:bodyPr wrap="square" lIns="25400" tIns="25400" rIns="25400" bIns="25400" rtlCol="0" anchor="t">
            <a:normAutofit/>
          </a:bodyPr>
          <a:lstStyle/>
          <a:p>
            <a:pPr algn="l" indent="0" marL="0">
              <a:lnSpc>
                <a:spcPct val="116812"/>
              </a:lnSpc>
              <a:buNone/>
            </a:pPr>
            <a:r>
              <a:rPr lang="en-US" sz="1950" spc="300" kern="0" dirty="0">
                <a:solidFill>
                  <a:srgbClr val="00D1FF"/>
                </a:solidFill>
                <a:latin typeface="JetBrains Mono" pitchFamily="34" charset="0"/>
                <a:ea typeface="JetBrains Mono" pitchFamily="34" charset="-122"/>
                <a:cs typeface="JetBrains Mono" pitchFamily="34" charset="-120"/>
              </a:rPr>
              <a:t>DEEPSTATE STATUS CHANGE · 04–13 AUG 2026</a:t>
            </a:r>
            <a:endParaRPr lang="en-US" sz="1950" dirty="0"/>
          </a:p>
        </p:txBody>
      </p:sp>
      <p:sp>
        <p:nvSpPr>
          <p:cNvPr id="3" name="Text 1"/>
          <p:cNvSpPr/>
          <p:nvPr/>
        </p:nvSpPr>
        <p:spPr>
          <a:xfrm>
            <a:off x="952500" y="2722811"/>
            <a:ext cx="15304770" cy="1238250"/>
          </a:xfrm>
          <a:prstGeom prst="rect">
            <a:avLst/>
          </a:prstGeom>
          <a:noFill/>
          <a:ln/>
        </p:spPr>
        <p:txBody>
          <a:bodyPr wrap="square" lIns="25400" tIns="25400" rIns="25400" bIns="25400" rtlCol="0" anchor="t">
            <a:normAutofit/>
          </a:bodyPr>
          <a:lstStyle/>
          <a:p>
            <a:pPr algn="l" indent="0" marL="0">
              <a:lnSpc>
                <a:spcPct val="70000"/>
              </a:lnSpc>
              <a:buNone/>
            </a:pPr>
            <a:r>
              <a:rPr lang="en-US" sz="4500" spc="22" kern="0" dirty="0">
                <a:solidFill>
                  <a:srgbClr val="FFFFFF"/>
                </a:solidFill>
                <a:latin typeface="Anton" pitchFamily="34" charset="0"/>
                <a:ea typeface="Anton" pitchFamily="34" charset="-122"/>
                <a:cs typeface="Anton" pitchFamily="34" charset="-120"/>
              </a:rPr>
              <a:t>68.49 KM² OF PREVIOUSLY OCCUPIED TERRITORY IS NO LONGER MAPPED OCCUPIED INSIDE THE HOTSPOT</a:t>
            </a:r>
            <a:endParaRPr lang="en-US" sz="4500" dirty="0"/>
          </a:p>
        </p:txBody>
      </p:sp>
      <p:sp>
        <p:nvSpPr>
          <p:cNvPr id="4" name="Shape 2"/>
          <p:cNvSpPr/>
          <p:nvPr/>
        </p:nvSpPr>
        <p:spPr>
          <a:xfrm>
            <a:off x="952500" y="4404420"/>
            <a:ext cx="4803874" cy="2545928"/>
          </a:xfrm>
          <a:prstGeom prst="roundRect">
            <a:avLst>
              <a:gd name="adj" fmla="val 2993"/>
            </a:avLst>
          </a:prstGeom>
          <a:solidFill>
            <a:srgbClr val="1C3F60"/>
          </a:solidFill>
          <a:ln w="9525">
            <a:solidFill>
              <a:srgbClr val="00D1FF"/>
            </a:solidFill>
            <a:prstDash val="solid"/>
          </a:ln>
        </p:spPr>
      </p:sp>
      <p:sp>
        <p:nvSpPr>
          <p:cNvPr id="5" name="Text 3"/>
          <p:cNvSpPr/>
          <p:nvPr/>
        </p:nvSpPr>
        <p:spPr>
          <a:xfrm>
            <a:off x="1247775" y="4718745"/>
            <a:ext cx="4634657" cy="725760"/>
          </a:xfrm>
          <a:prstGeom prst="rect">
            <a:avLst/>
          </a:prstGeom>
          <a:noFill/>
          <a:ln/>
        </p:spPr>
        <p:txBody>
          <a:bodyPr wrap="square" lIns="25400" tIns="25400" rIns="25400" bIns="25400" rtlCol="0" anchor="t">
            <a:normAutofit/>
          </a:bodyPr>
          <a:lstStyle/>
          <a:p>
            <a:pPr algn="l" indent="0" marL="0">
              <a:lnSpc>
                <a:spcPct val="63057"/>
              </a:lnSpc>
              <a:buNone/>
            </a:pPr>
            <a:r>
              <a:rPr lang="en-US" sz="5700" dirty="0">
                <a:solidFill>
                  <a:srgbClr val="00D1FF"/>
                </a:solidFill>
                <a:latin typeface="Anton" pitchFamily="34" charset="0"/>
                <a:ea typeface="Anton" pitchFamily="34" charset="-122"/>
                <a:cs typeface="Anton" pitchFamily="34" charset="-120"/>
              </a:rPr>
              <a:t>39.72 km²</a:t>
            </a:r>
            <a:endParaRPr lang="en-US" sz="5700" dirty="0"/>
          </a:p>
        </p:txBody>
      </p:sp>
      <p:sp>
        <p:nvSpPr>
          <p:cNvPr id="6" name="Text 4"/>
          <p:cNvSpPr/>
          <p:nvPr/>
        </p:nvSpPr>
        <p:spPr>
          <a:xfrm>
            <a:off x="1247775" y="5520705"/>
            <a:ext cx="4634657" cy="421928"/>
          </a:xfrm>
          <a:prstGeom prst="rect">
            <a:avLst/>
          </a:prstGeom>
          <a:noFill/>
          <a:ln/>
        </p:spPr>
        <p:txBody>
          <a:bodyPr wrap="square" lIns="25400" tIns="25400" rIns="25400" bIns="25400" rtlCol="0" anchor="t">
            <a:normAutofit/>
          </a:bodyPr>
          <a:lstStyle/>
          <a:p>
            <a:pPr algn="l" indent="0" marL="0">
              <a:lnSpc>
                <a:spcPct val="116812"/>
              </a:lnSpc>
              <a:buNone/>
            </a:pPr>
            <a:r>
              <a:rPr lang="en-US" sz="1950" dirty="0">
                <a:solidFill>
                  <a:srgbClr val="FFFFFF"/>
                </a:solidFill>
                <a:latin typeface="JetBrains Mono" pitchFamily="34" charset="0"/>
                <a:ea typeface="JetBrains Mono" pitchFamily="34" charset="-122"/>
                <a:cs typeface="JetBrains Mono" pitchFamily="34" charset="-120"/>
              </a:rPr>
              <a:t>occupied → liberated</a:t>
            </a:r>
            <a:endParaRPr lang="en-US" sz="1950" dirty="0"/>
          </a:p>
        </p:txBody>
      </p:sp>
      <p:sp>
        <p:nvSpPr>
          <p:cNvPr id="7" name="Text 5"/>
          <p:cNvSpPr/>
          <p:nvPr/>
        </p:nvSpPr>
        <p:spPr>
          <a:xfrm>
            <a:off x="1247775" y="6018833"/>
            <a:ext cx="4339724" cy="655290"/>
          </a:xfrm>
          <a:prstGeom prst="rect">
            <a:avLst/>
          </a:prstGeom>
          <a:noFill/>
          <a:ln/>
        </p:spPr>
        <p:txBody>
          <a:bodyPr wrap="square" lIns="25400" tIns="25400" rIns="25400" bIns="25400" rtlCol="0" anchor="t">
            <a:normAutofit/>
          </a:bodyPr>
          <a:lstStyle/>
          <a:p>
            <a:pPr algn="l" indent="0" marL="0">
              <a:lnSpc>
                <a:spcPct val="109831"/>
              </a:lnSpc>
              <a:buNone/>
            </a:pPr>
            <a:r>
              <a:rPr lang="en-US" sz="1800" dirty="0">
                <a:solidFill>
                  <a:srgbClr val="AAB8C2"/>
                </a:solidFill>
                <a:latin typeface="Inter" pitchFamily="34" charset="0"/>
                <a:ea typeface="Inter" pitchFamily="34" charset="-122"/>
                <a:cs typeface="Inter" pitchFamily="34" charset="-120"/>
              </a:rPr>
              <a:t>Confirmed reclaimed in DeepState classification</a:t>
            </a:r>
            <a:endParaRPr lang="en-US" sz="1800" dirty="0"/>
          </a:p>
        </p:txBody>
      </p:sp>
      <p:sp>
        <p:nvSpPr>
          <p:cNvPr id="8" name="Shape 6"/>
          <p:cNvSpPr/>
          <p:nvPr/>
        </p:nvSpPr>
        <p:spPr>
          <a:xfrm>
            <a:off x="6061174" y="4404420"/>
            <a:ext cx="4803949" cy="2545928"/>
          </a:xfrm>
          <a:prstGeom prst="roundRect">
            <a:avLst>
              <a:gd name="adj" fmla="val 2993"/>
            </a:avLst>
          </a:prstGeom>
          <a:solidFill>
            <a:srgbClr val="122F4A"/>
          </a:solidFill>
          <a:ln w="9525">
            <a:solidFill>
              <a:srgbClr val="1F3A5F"/>
            </a:solidFill>
            <a:prstDash val="solid"/>
          </a:ln>
        </p:spPr>
      </p:sp>
      <p:sp>
        <p:nvSpPr>
          <p:cNvPr id="9" name="Text 7"/>
          <p:cNvSpPr/>
          <p:nvPr/>
        </p:nvSpPr>
        <p:spPr>
          <a:xfrm>
            <a:off x="6356449" y="4718745"/>
            <a:ext cx="4634738" cy="725760"/>
          </a:xfrm>
          <a:prstGeom prst="rect">
            <a:avLst/>
          </a:prstGeom>
          <a:noFill/>
          <a:ln/>
        </p:spPr>
        <p:txBody>
          <a:bodyPr wrap="square" lIns="25400" tIns="25400" rIns="25400" bIns="25400" rtlCol="0" anchor="t">
            <a:normAutofit/>
          </a:bodyPr>
          <a:lstStyle/>
          <a:p>
            <a:pPr algn="l" indent="0" marL="0">
              <a:lnSpc>
                <a:spcPct val="63057"/>
              </a:lnSpc>
              <a:buNone/>
            </a:pPr>
            <a:r>
              <a:rPr lang="en-US" sz="5700" dirty="0">
                <a:solidFill>
                  <a:srgbClr val="AAB8C2"/>
                </a:solidFill>
                <a:latin typeface="Anton" pitchFamily="34" charset="0"/>
                <a:ea typeface="Anton" pitchFamily="34" charset="-122"/>
                <a:cs typeface="Anton" pitchFamily="34" charset="-120"/>
              </a:rPr>
              <a:t>28.77 km²</a:t>
            </a:r>
            <a:endParaRPr lang="en-US" sz="5700" dirty="0"/>
          </a:p>
        </p:txBody>
      </p:sp>
      <p:sp>
        <p:nvSpPr>
          <p:cNvPr id="10" name="Text 8"/>
          <p:cNvSpPr/>
          <p:nvPr/>
        </p:nvSpPr>
        <p:spPr>
          <a:xfrm>
            <a:off x="6356449" y="5520705"/>
            <a:ext cx="4634738" cy="421928"/>
          </a:xfrm>
          <a:prstGeom prst="rect">
            <a:avLst/>
          </a:prstGeom>
          <a:noFill/>
          <a:ln/>
        </p:spPr>
        <p:txBody>
          <a:bodyPr wrap="square" lIns="25400" tIns="25400" rIns="25400" bIns="25400" rtlCol="0" anchor="t">
            <a:normAutofit/>
          </a:bodyPr>
          <a:lstStyle/>
          <a:p>
            <a:pPr algn="l" indent="0" marL="0">
              <a:lnSpc>
                <a:spcPct val="116812"/>
              </a:lnSpc>
              <a:buNone/>
            </a:pPr>
            <a:r>
              <a:rPr lang="en-US" sz="1950" dirty="0">
                <a:solidFill>
                  <a:srgbClr val="FFFFFF"/>
                </a:solidFill>
                <a:latin typeface="JetBrains Mono" pitchFamily="34" charset="0"/>
                <a:ea typeface="JetBrains Mono" pitchFamily="34" charset="-122"/>
                <a:cs typeface="JetBrains Mono" pitchFamily="34" charset="-120"/>
              </a:rPr>
              <a:t>occupied → gray/contested</a:t>
            </a:r>
            <a:endParaRPr lang="en-US" sz="1950" dirty="0"/>
          </a:p>
        </p:txBody>
      </p:sp>
      <p:sp>
        <p:nvSpPr>
          <p:cNvPr id="11" name="Text 9"/>
          <p:cNvSpPr/>
          <p:nvPr/>
        </p:nvSpPr>
        <p:spPr>
          <a:xfrm>
            <a:off x="6356449" y="6018833"/>
            <a:ext cx="4339801" cy="655290"/>
          </a:xfrm>
          <a:prstGeom prst="rect">
            <a:avLst/>
          </a:prstGeom>
          <a:noFill/>
          <a:ln/>
        </p:spPr>
        <p:txBody>
          <a:bodyPr wrap="square" lIns="25400" tIns="25400" rIns="25400" bIns="25400" rtlCol="0" anchor="t">
            <a:normAutofit/>
          </a:bodyPr>
          <a:lstStyle/>
          <a:p>
            <a:pPr algn="l" indent="0" marL="0">
              <a:lnSpc>
                <a:spcPct val="109831"/>
              </a:lnSpc>
              <a:buNone/>
            </a:pPr>
            <a:r>
              <a:rPr lang="en-US" sz="1800" dirty="0">
                <a:solidFill>
                  <a:srgbClr val="AAB8C2"/>
                </a:solidFill>
                <a:latin typeface="Inter" pitchFamily="34" charset="0"/>
                <a:ea typeface="Inter" pitchFamily="34" charset="-122"/>
                <a:cs typeface="Inter" pitchFamily="34" charset="-120"/>
              </a:rPr>
              <a:t>Previously occupied, now contested/unknown</a:t>
            </a:r>
            <a:endParaRPr lang="en-US" sz="1800" dirty="0"/>
          </a:p>
        </p:txBody>
      </p:sp>
      <p:sp>
        <p:nvSpPr>
          <p:cNvPr id="12" name="Text 10"/>
          <p:cNvSpPr/>
          <p:nvPr/>
        </p:nvSpPr>
        <p:spPr>
          <a:xfrm>
            <a:off x="11131823" y="5204966"/>
            <a:ext cx="652611" cy="982935"/>
          </a:xfrm>
          <a:prstGeom prst="rect">
            <a:avLst/>
          </a:prstGeom>
          <a:noFill/>
          <a:ln/>
        </p:spPr>
        <p:txBody>
          <a:bodyPr wrap="square" lIns="25400" tIns="25400" rIns="25400" bIns="25400" rtlCol="0" anchor="t">
            <a:normAutofit/>
          </a:bodyPr>
          <a:lstStyle/>
          <a:p>
            <a:pPr algn="ctr" indent="0" marL="0">
              <a:lnSpc>
                <a:spcPct val="102798"/>
              </a:lnSpc>
              <a:buNone/>
            </a:pPr>
            <a:r>
              <a:rPr lang="en-US" sz="4800" dirty="0">
                <a:solidFill>
                  <a:srgbClr val="AAB8C2"/>
                </a:solidFill>
                <a:latin typeface="Anton" pitchFamily="34" charset="0"/>
                <a:ea typeface="Anton" pitchFamily="34" charset="-122"/>
                <a:cs typeface="Anton" pitchFamily="34" charset="-120"/>
              </a:rPr>
              <a:t>=</a:t>
            </a:r>
            <a:endParaRPr lang="en-US" sz="4800" dirty="0"/>
          </a:p>
        </p:txBody>
      </p:sp>
      <p:sp>
        <p:nvSpPr>
          <p:cNvPr id="13" name="Shape 11"/>
          <p:cNvSpPr/>
          <p:nvPr/>
        </p:nvSpPr>
        <p:spPr>
          <a:xfrm>
            <a:off x="12051134" y="4342061"/>
            <a:ext cx="5284366" cy="2670646"/>
          </a:xfrm>
          <a:prstGeom prst="roundRect">
            <a:avLst>
              <a:gd name="adj" fmla="val 2853"/>
            </a:avLst>
          </a:prstGeom>
          <a:solidFill>
            <a:srgbClr val="122F4A"/>
          </a:solidFill>
          <a:ln w="9525">
            <a:solidFill>
              <a:srgbClr val="1F3A5F"/>
            </a:solidFill>
            <a:prstDash val="solid"/>
          </a:ln>
        </p:spPr>
      </p:sp>
      <p:sp>
        <p:nvSpPr>
          <p:cNvPr id="14" name="Text 12"/>
          <p:cNvSpPr/>
          <p:nvPr/>
        </p:nvSpPr>
        <p:spPr>
          <a:xfrm>
            <a:off x="12346409" y="4656386"/>
            <a:ext cx="5163197" cy="834330"/>
          </a:xfrm>
          <a:prstGeom prst="rect">
            <a:avLst/>
          </a:prstGeom>
          <a:noFill/>
          <a:ln/>
        </p:spPr>
        <p:txBody>
          <a:bodyPr wrap="square" lIns="25400" tIns="25400" rIns="25400" bIns="25400" rtlCol="0" anchor="t">
            <a:normAutofit/>
          </a:bodyPr>
          <a:lstStyle/>
          <a:p>
            <a:pPr algn="l" indent="0" marL="0">
              <a:lnSpc>
                <a:spcPct val="63094"/>
              </a:lnSpc>
              <a:buNone/>
            </a:pPr>
            <a:r>
              <a:rPr lang="en-US" sz="6600" dirty="0">
                <a:solidFill>
                  <a:srgbClr val="FFFFFF"/>
                </a:solidFill>
                <a:latin typeface="Anton" pitchFamily="34" charset="0"/>
                <a:ea typeface="Anton" pitchFamily="34" charset="-122"/>
                <a:cs typeface="Anton" pitchFamily="34" charset="-120"/>
              </a:rPr>
              <a:t>68.49 km²</a:t>
            </a:r>
            <a:endParaRPr lang="en-US" sz="6600" dirty="0"/>
          </a:p>
        </p:txBody>
      </p:sp>
      <p:sp>
        <p:nvSpPr>
          <p:cNvPr id="15" name="Text 13"/>
          <p:cNvSpPr/>
          <p:nvPr/>
        </p:nvSpPr>
        <p:spPr>
          <a:xfrm>
            <a:off x="12346409" y="5566916"/>
            <a:ext cx="4834630" cy="746671"/>
          </a:xfrm>
          <a:prstGeom prst="rect">
            <a:avLst/>
          </a:prstGeom>
          <a:noFill/>
          <a:ln/>
        </p:spPr>
        <p:txBody>
          <a:bodyPr wrap="square" lIns="25400" tIns="25400" rIns="25400" bIns="25400" rtlCol="0" anchor="t">
            <a:normAutofit/>
          </a:bodyPr>
          <a:lstStyle/>
          <a:p>
            <a:pPr algn="l" indent="0" marL="0">
              <a:lnSpc>
                <a:spcPct val="118095"/>
              </a:lnSpc>
              <a:buNone/>
            </a:pPr>
            <a:r>
              <a:rPr lang="en-US" sz="1800" spc="150" kern="0" dirty="0">
                <a:solidFill>
                  <a:srgbClr val="FFFFFF"/>
                </a:solidFill>
                <a:latin typeface="JetBrains Mono" pitchFamily="34" charset="0"/>
                <a:ea typeface="JetBrains Mono" pitchFamily="34" charset="-122"/>
                <a:cs typeface="JetBrains Mono" pitchFamily="34" charset="-120"/>
              </a:rPr>
              <a:t>PREVIOUSLY OCCUPIED TERRITORY NO LONGER MAPPED OCCUPIED</a:t>
            </a:r>
            <a:endParaRPr lang="en-US" sz="1800" dirty="0"/>
          </a:p>
        </p:txBody>
      </p:sp>
      <p:sp>
        <p:nvSpPr>
          <p:cNvPr id="16" name="Text 14"/>
          <p:cNvSpPr/>
          <p:nvPr/>
        </p:nvSpPr>
        <p:spPr>
          <a:xfrm>
            <a:off x="12346409" y="6389787"/>
            <a:ext cx="5163197" cy="346695"/>
          </a:xfrm>
          <a:prstGeom prst="rect">
            <a:avLst/>
          </a:prstGeom>
          <a:noFill/>
          <a:ln/>
        </p:spPr>
        <p:txBody>
          <a:bodyPr wrap="square" lIns="25400" tIns="25400" rIns="25400" bIns="25400" rtlCol="0" anchor="t">
            <a:normAutofit/>
          </a:bodyPr>
          <a:lstStyle/>
          <a:p>
            <a:pPr algn="l" indent="0" marL="0">
              <a:lnSpc>
                <a:spcPct val="109831"/>
              </a:lnSpc>
              <a:buNone/>
            </a:pPr>
            <a:r>
              <a:rPr lang="en-US" sz="1800" dirty="0">
                <a:solidFill>
                  <a:srgbClr val="AAB8C2"/>
                </a:solidFill>
                <a:latin typeface="Inter" pitchFamily="34" charset="0"/>
                <a:ea typeface="Inter" pitchFamily="34" charset="-122"/>
                <a:cs typeface="Inter" pitchFamily="34" charset="-120"/>
              </a:rPr>
              <a:t>Newly mapped occupied: 0.00 km²</a:t>
            </a:r>
            <a:endParaRPr lang="en-US" sz="1800" dirty="0"/>
          </a:p>
        </p:txBody>
      </p:sp>
      <p:sp>
        <p:nvSpPr>
          <p:cNvPr id="17" name="Shape 15"/>
          <p:cNvSpPr/>
          <p:nvPr/>
        </p:nvSpPr>
        <p:spPr>
          <a:xfrm>
            <a:off x="952500" y="7431807"/>
            <a:ext cx="16383000" cy="9525"/>
          </a:xfrm>
          <a:prstGeom prst="rect">
            <a:avLst/>
          </a:prstGeom>
          <a:solidFill>
            <a:srgbClr val="1F3A5F"/>
          </a:solidFill>
          <a:ln/>
        </p:spPr>
      </p:sp>
      <p:sp>
        <p:nvSpPr>
          <p:cNvPr id="18" name="Text 16"/>
          <p:cNvSpPr/>
          <p:nvPr/>
        </p:nvSpPr>
        <p:spPr>
          <a:xfrm>
            <a:off x="952500" y="7688982"/>
            <a:ext cx="16874490" cy="811411"/>
          </a:xfrm>
          <a:prstGeom prst="rect">
            <a:avLst/>
          </a:prstGeom>
          <a:noFill/>
          <a:ln/>
        </p:spPr>
        <p:txBody>
          <a:bodyPr wrap="square" lIns="25400" tIns="25400" rIns="25400" bIns="25400" rtlCol="0" anchor="t">
            <a:normAutofit/>
          </a:bodyPr>
          <a:lstStyle/>
          <a:p>
            <a:pPr algn="l" indent="0" marL="0">
              <a:lnSpc>
                <a:spcPct val="119412"/>
              </a:lnSpc>
              <a:buNone/>
            </a:pPr>
            <a:r>
              <a:rPr lang="en-US" sz="2100" dirty="0">
                <a:solidFill>
                  <a:srgbClr val="AAB8C2"/>
                </a:solidFill>
                <a:latin typeface="Inter" pitchFamily="34" charset="0"/>
                <a:ea typeface="Inter" pitchFamily="34" charset="-122"/>
                <a:cs typeface="Inter" pitchFamily="34" charset="-120"/>
              </a:rPr>
              <a:t>This is not a claim that Ukraine liberated 68.49 km². It is 68.49 km² that DeepState previously classified as occupied and no longer classifies as occupied.</a:t>
            </a:r>
            <a:endParaRPr lang="en-US" sz="2100" dirty="0"/>
          </a:p>
        </p:txBody>
      </p:sp>
      <p:sp>
        <p:nvSpPr>
          <p:cNvPr id="19" name="Text 17"/>
          <p:cNvSpPr/>
          <p:nvPr/>
        </p:nvSpPr>
        <p:spPr>
          <a:xfrm>
            <a:off x="952500" y="9646965"/>
            <a:ext cx="18021300"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Copyright Walker Rowe, Hypatia Academy Cyprus 2026</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952500" y="2110160"/>
            <a:ext cx="18021300" cy="678135"/>
          </a:xfrm>
          <a:prstGeom prst="rect">
            <a:avLst/>
          </a:prstGeom>
          <a:noFill/>
          <a:ln/>
        </p:spPr>
        <p:txBody>
          <a:bodyPr wrap="square" lIns="25400" tIns="25400" rIns="25400" bIns="25400" rtlCol="0" anchor="t">
            <a:normAutofit/>
          </a:bodyPr>
          <a:lstStyle/>
          <a:p>
            <a:pPr algn="l" indent="0" marL="0">
              <a:lnSpc>
                <a:spcPct val="69637"/>
              </a:lnSpc>
              <a:buNone/>
            </a:pPr>
            <a:r>
              <a:rPr lang="en-US" sz="4800" spc="24" kern="0" dirty="0">
                <a:solidFill>
                  <a:srgbClr val="FFFFFF"/>
                </a:solidFill>
                <a:latin typeface="Anton" pitchFamily="34" charset="0"/>
                <a:ea typeface="Anton" pitchFamily="34" charset="-122"/>
                <a:cs typeface="Anton" pitchFamily="34" charset="-120"/>
              </a:rPr>
              <a:t>NOT ALL RUSSIAN CONTROL LOSS MEANS LIBERATION</a:t>
            </a:r>
            <a:endParaRPr lang="en-US" sz="4800" dirty="0"/>
          </a:p>
        </p:txBody>
      </p:sp>
      <p:sp>
        <p:nvSpPr>
          <p:cNvPr id="3" name="Shape 1"/>
          <p:cNvSpPr/>
          <p:nvPr/>
        </p:nvSpPr>
        <p:spPr>
          <a:xfrm>
            <a:off x="952500" y="3131195"/>
            <a:ext cx="5283175" cy="2488704"/>
          </a:xfrm>
          <a:prstGeom prst="roundRect">
            <a:avLst>
              <a:gd name="adj" fmla="val 3062"/>
            </a:avLst>
          </a:prstGeom>
          <a:solidFill>
            <a:srgbClr val="1C3F60"/>
          </a:solidFill>
          <a:ln w="9525">
            <a:solidFill>
              <a:srgbClr val="00D1FF"/>
            </a:solidFill>
            <a:prstDash val="solid"/>
          </a:ln>
        </p:spPr>
      </p:sp>
      <p:sp>
        <p:nvSpPr>
          <p:cNvPr id="4" name="Text 2"/>
          <p:cNvSpPr/>
          <p:nvPr/>
        </p:nvSpPr>
        <p:spPr>
          <a:xfrm>
            <a:off x="1247775" y="3426470"/>
            <a:ext cx="5161888" cy="421928"/>
          </a:xfrm>
          <a:prstGeom prst="rect">
            <a:avLst/>
          </a:prstGeom>
          <a:noFill/>
          <a:ln/>
        </p:spPr>
        <p:txBody>
          <a:bodyPr wrap="square" lIns="25400" tIns="25400" rIns="25400" bIns="25400" rtlCol="0" anchor="t">
            <a:normAutofit/>
          </a:bodyPr>
          <a:lstStyle/>
          <a:p>
            <a:pPr algn="l" indent="0" marL="0">
              <a:lnSpc>
                <a:spcPct val="116812"/>
              </a:lnSpc>
              <a:buNone/>
            </a:pPr>
            <a:r>
              <a:rPr lang="en-US" sz="1950" dirty="0">
                <a:solidFill>
                  <a:srgbClr val="FF7A00"/>
                </a:solidFill>
                <a:latin typeface="JetBrains Mono" pitchFamily="34" charset="0"/>
                <a:ea typeface="JetBrains Mono" pitchFamily="34" charset="-122"/>
                <a:cs typeface="JetBrains Mono" pitchFamily="34" charset="-120"/>
              </a:rPr>
              <a:t>OCCUPIED </a:t>
            </a:r>
            <a:pPr algn="l" indent="0" marL="0">
              <a:lnSpc>
                <a:spcPct val="116812"/>
              </a:lnSpc>
              <a:buNone/>
            </a:pPr>
            <a:r>
              <a:rPr lang="en-US" sz="1950" dirty="0">
                <a:solidFill>
                  <a:srgbClr val="FFFFFF"/>
                </a:solidFill>
                <a:latin typeface="JetBrains Mono" pitchFamily="34" charset="0"/>
                <a:ea typeface="JetBrains Mono" pitchFamily="34" charset="-122"/>
                <a:cs typeface="JetBrains Mono" pitchFamily="34" charset="-120"/>
              </a:rPr>
              <a:t>→ </a:t>
            </a:r>
            <a:pPr algn="l" indent="0" marL="0">
              <a:lnSpc>
                <a:spcPct val="116812"/>
              </a:lnSpc>
              <a:buNone/>
            </a:pPr>
            <a:r>
              <a:rPr lang="en-US" sz="1950" dirty="0">
                <a:solidFill>
                  <a:srgbClr val="00D1FF"/>
                </a:solidFill>
                <a:latin typeface="JetBrains Mono" pitchFamily="34" charset="0"/>
                <a:ea typeface="JetBrains Mono" pitchFamily="34" charset="-122"/>
                <a:cs typeface="JetBrains Mono" pitchFamily="34" charset="-120"/>
              </a:rPr>
              <a:t>LIBERATED</a:t>
            </a:r>
            <a:endParaRPr lang="en-US" sz="1950" dirty="0"/>
          </a:p>
        </p:txBody>
      </p:sp>
      <p:sp>
        <p:nvSpPr>
          <p:cNvPr id="5" name="Text 3"/>
          <p:cNvSpPr/>
          <p:nvPr/>
        </p:nvSpPr>
        <p:spPr>
          <a:xfrm>
            <a:off x="1247775" y="3943648"/>
            <a:ext cx="5161888" cy="617190"/>
          </a:xfrm>
          <a:prstGeom prst="rect">
            <a:avLst/>
          </a:prstGeom>
          <a:noFill/>
          <a:ln/>
        </p:spPr>
        <p:txBody>
          <a:bodyPr wrap="square" lIns="25400" tIns="25400" rIns="25400" bIns="25400" rtlCol="0" anchor="t">
            <a:normAutofit/>
          </a:bodyPr>
          <a:lstStyle/>
          <a:p>
            <a:pPr algn="l" indent="0" marL="0">
              <a:lnSpc>
                <a:spcPct val="63005"/>
              </a:lnSpc>
              <a:buNone/>
            </a:pPr>
            <a:r>
              <a:rPr lang="en-US" sz="4800" dirty="0">
                <a:solidFill>
                  <a:srgbClr val="00D1FF"/>
                </a:solidFill>
                <a:latin typeface="Anton" pitchFamily="34" charset="0"/>
                <a:ea typeface="Anton" pitchFamily="34" charset="-122"/>
                <a:cs typeface="Anton" pitchFamily="34" charset="-120"/>
              </a:rPr>
              <a:t>39.72 km²</a:t>
            </a:r>
            <a:endParaRPr lang="en-US" sz="4800" dirty="0"/>
          </a:p>
        </p:txBody>
      </p:sp>
      <p:sp>
        <p:nvSpPr>
          <p:cNvPr id="6" name="Text 4"/>
          <p:cNvSpPr/>
          <p:nvPr/>
        </p:nvSpPr>
        <p:spPr>
          <a:xfrm>
            <a:off x="1247775" y="4656088"/>
            <a:ext cx="4833404" cy="706636"/>
          </a:xfrm>
          <a:prstGeom prst="rect">
            <a:avLst/>
          </a:prstGeom>
          <a:noFill/>
          <a:ln/>
        </p:spPr>
        <p:txBody>
          <a:bodyPr wrap="square" lIns="25400" tIns="25400" rIns="25400" bIns="25400" rtlCol="0" anchor="t">
            <a:normAutofit/>
          </a:bodyPr>
          <a:lstStyle/>
          <a:p>
            <a:pPr algn="l" indent="0" marL="0">
              <a:lnSpc>
                <a:spcPct val="111429"/>
              </a:lnSpc>
              <a:buNone/>
            </a:pPr>
            <a:r>
              <a:rPr lang="en-US" sz="1950" dirty="0">
                <a:solidFill>
                  <a:srgbClr val="AAB8C2"/>
                </a:solidFill>
                <a:latin typeface="Inter" pitchFamily="34" charset="0"/>
                <a:ea typeface="Inter" pitchFamily="34" charset="-122"/>
                <a:cs typeface="Inter" pitchFamily="34" charset="-120"/>
              </a:rPr>
              <a:t>Confirmed reclaimed in DeepState classification</a:t>
            </a:r>
            <a:endParaRPr lang="en-US" sz="1950" dirty="0"/>
          </a:p>
        </p:txBody>
      </p:sp>
      <p:sp>
        <p:nvSpPr>
          <p:cNvPr id="7" name="Shape 5"/>
          <p:cNvSpPr/>
          <p:nvPr/>
        </p:nvSpPr>
        <p:spPr>
          <a:xfrm>
            <a:off x="6502375" y="3131195"/>
            <a:ext cx="5283175" cy="2488704"/>
          </a:xfrm>
          <a:prstGeom prst="roundRect">
            <a:avLst>
              <a:gd name="adj" fmla="val 3062"/>
            </a:avLst>
          </a:prstGeom>
          <a:solidFill>
            <a:srgbClr val="122F4A"/>
          </a:solidFill>
          <a:ln w="9525">
            <a:solidFill>
              <a:srgbClr val="1F3A5F"/>
            </a:solidFill>
            <a:prstDash val="solid"/>
          </a:ln>
        </p:spPr>
      </p:sp>
      <p:sp>
        <p:nvSpPr>
          <p:cNvPr id="8" name="Text 6"/>
          <p:cNvSpPr/>
          <p:nvPr/>
        </p:nvSpPr>
        <p:spPr>
          <a:xfrm>
            <a:off x="6797650" y="3426470"/>
            <a:ext cx="5161888" cy="421928"/>
          </a:xfrm>
          <a:prstGeom prst="rect">
            <a:avLst/>
          </a:prstGeom>
          <a:noFill/>
          <a:ln/>
        </p:spPr>
        <p:txBody>
          <a:bodyPr wrap="square" lIns="25400" tIns="25400" rIns="25400" bIns="25400" rtlCol="0" anchor="t">
            <a:normAutofit/>
          </a:bodyPr>
          <a:lstStyle/>
          <a:p>
            <a:pPr algn="l" indent="0" marL="0">
              <a:lnSpc>
                <a:spcPct val="116812"/>
              </a:lnSpc>
              <a:buNone/>
            </a:pPr>
            <a:r>
              <a:rPr lang="en-US" sz="1950" dirty="0">
                <a:solidFill>
                  <a:srgbClr val="FF7A00"/>
                </a:solidFill>
                <a:latin typeface="JetBrains Mono" pitchFamily="34" charset="0"/>
                <a:ea typeface="JetBrains Mono" pitchFamily="34" charset="-122"/>
                <a:cs typeface="JetBrains Mono" pitchFamily="34" charset="-120"/>
              </a:rPr>
              <a:t>OCCUPIED </a:t>
            </a:r>
            <a:pPr algn="l" indent="0" marL="0">
              <a:lnSpc>
                <a:spcPct val="116812"/>
              </a:lnSpc>
              <a:buNone/>
            </a:pPr>
            <a:r>
              <a:rPr lang="en-US" sz="1950" dirty="0">
                <a:solidFill>
                  <a:srgbClr val="FFFFFF"/>
                </a:solidFill>
                <a:latin typeface="JetBrains Mono" pitchFamily="34" charset="0"/>
                <a:ea typeface="JetBrains Mono" pitchFamily="34" charset="-122"/>
                <a:cs typeface="JetBrains Mono" pitchFamily="34" charset="-120"/>
              </a:rPr>
              <a:t>→ </a:t>
            </a:r>
            <a:pPr algn="l"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GRAY/CONTESTED</a:t>
            </a:r>
            <a:endParaRPr lang="en-US" sz="1950" dirty="0"/>
          </a:p>
        </p:txBody>
      </p:sp>
      <p:sp>
        <p:nvSpPr>
          <p:cNvPr id="9" name="Text 7"/>
          <p:cNvSpPr/>
          <p:nvPr/>
        </p:nvSpPr>
        <p:spPr>
          <a:xfrm>
            <a:off x="6797650" y="3943648"/>
            <a:ext cx="5161888" cy="617190"/>
          </a:xfrm>
          <a:prstGeom prst="rect">
            <a:avLst/>
          </a:prstGeom>
          <a:noFill/>
          <a:ln/>
        </p:spPr>
        <p:txBody>
          <a:bodyPr wrap="square" lIns="25400" tIns="25400" rIns="25400" bIns="25400" rtlCol="0" anchor="t">
            <a:normAutofit/>
          </a:bodyPr>
          <a:lstStyle/>
          <a:p>
            <a:pPr algn="l" indent="0" marL="0">
              <a:lnSpc>
                <a:spcPct val="63005"/>
              </a:lnSpc>
              <a:buNone/>
            </a:pPr>
            <a:r>
              <a:rPr lang="en-US" sz="4800" dirty="0">
                <a:solidFill>
                  <a:srgbClr val="AAB8C2"/>
                </a:solidFill>
                <a:latin typeface="Anton" pitchFamily="34" charset="0"/>
                <a:ea typeface="Anton" pitchFamily="34" charset="-122"/>
                <a:cs typeface="Anton" pitchFamily="34" charset="-120"/>
              </a:rPr>
              <a:t>28.77 km²</a:t>
            </a:r>
            <a:endParaRPr lang="en-US" sz="4800" dirty="0"/>
          </a:p>
        </p:txBody>
      </p:sp>
      <p:sp>
        <p:nvSpPr>
          <p:cNvPr id="10" name="Text 8"/>
          <p:cNvSpPr/>
          <p:nvPr/>
        </p:nvSpPr>
        <p:spPr>
          <a:xfrm>
            <a:off x="6797650" y="4656088"/>
            <a:ext cx="4833404" cy="706636"/>
          </a:xfrm>
          <a:prstGeom prst="rect">
            <a:avLst/>
          </a:prstGeom>
          <a:noFill/>
          <a:ln/>
        </p:spPr>
        <p:txBody>
          <a:bodyPr wrap="square" lIns="25400" tIns="25400" rIns="25400" bIns="25400" rtlCol="0" anchor="t">
            <a:normAutofit/>
          </a:bodyPr>
          <a:lstStyle/>
          <a:p>
            <a:pPr algn="l" indent="0" marL="0">
              <a:lnSpc>
                <a:spcPct val="111429"/>
              </a:lnSpc>
              <a:buNone/>
            </a:pPr>
            <a:r>
              <a:rPr lang="en-US" sz="1950" dirty="0">
                <a:solidFill>
                  <a:srgbClr val="AAB8C2"/>
                </a:solidFill>
                <a:latin typeface="Inter" pitchFamily="34" charset="0"/>
                <a:ea typeface="Inter" pitchFamily="34" charset="-122"/>
                <a:cs typeface="Inter" pitchFamily="34" charset="-120"/>
              </a:rPr>
              <a:t>Previously occupied, now contested/unknown</a:t>
            </a:r>
            <a:endParaRPr lang="en-US" sz="1950" dirty="0"/>
          </a:p>
        </p:txBody>
      </p:sp>
      <p:sp>
        <p:nvSpPr>
          <p:cNvPr id="11" name="Shape 9"/>
          <p:cNvSpPr/>
          <p:nvPr/>
        </p:nvSpPr>
        <p:spPr>
          <a:xfrm>
            <a:off x="12052250" y="3131195"/>
            <a:ext cx="5283250" cy="2488704"/>
          </a:xfrm>
          <a:prstGeom prst="roundRect">
            <a:avLst>
              <a:gd name="adj" fmla="val 3062"/>
            </a:avLst>
          </a:prstGeom>
          <a:solidFill>
            <a:srgbClr val="122F4A"/>
          </a:solidFill>
          <a:ln w="9525">
            <a:solidFill>
              <a:srgbClr val="AAB8C2"/>
            </a:solidFill>
            <a:prstDash val="solid"/>
          </a:ln>
        </p:spPr>
      </p:sp>
      <p:sp>
        <p:nvSpPr>
          <p:cNvPr id="12" name="Text 10"/>
          <p:cNvSpPr/>
          <p:nvPr/>
        </p:nvSpPr>
        <p:spPr>
          <a:xfrm>
            <a:off x="12347525" y="3426470"/>
            <a:ext cx="5161970" cy="421928"/>
          </a:xfrm>
          <a:prstGeom prst="rect">
            <a:avLst/>
          </a:prstGeom>
          <a:noFill/>
          <a:ln/>
        </p:spPr>
        <p:txBody>
          <a:bodyPr wrap="square" lIns="25400" tIns="25400" rIns="25400" bIns="25400" rtlCol="0" anchor="t">
            <a:normAutofit/>
          </a:bodyPr>
          <a:lstStyle/>
          <a:p>
            <a:pPr algn="l" indent="0" marL="0">
              <a:lnSpc>
                <a:spcPct val="116812"/>
              </a:lnSpc>
              <a:buNone/>
            </a:pPr>
            <a:r>
              <a:rPr lang="en-US" sz="1950" dirty="0">
                <a:solidFill>
                  <a:srgbClr val="FFFFFF"/>
                </a:solidFill>
                <a:latin typeface="JetBrains Mono" pitchFamily="34" charset="0"/>
                <a:ea typeface="JetBrains Mono" pitchFamily="34" charset="-122"/>
                <a:cs typeface="JetBrains Mono" pitchFamily="34" charset="-120"/>
              </a:rPr>
              <a:t>TOTAL</a:t>
            </a:r>
            <a:endParaRPr lang="en-US" sz="1950" dirty="0"/>
          </a:p>
        </p:txBody>
      </p:sp>
      <p:sp>
        <p:nvSpPr>
          <p:cNvPr id="13" name="Text 11"/>
          <p:cNvSpPr/>
          <p:nvPr/>
        </p:nvSpPr>
        <p:spPr>
          <a:xfrm>
            <a:off x="12347525" y="3943648"/>
            <a:ext cx="5161970" cy="617190"/>
          </a:xfrm>
          <a:prstGeom prst="rect">
            <a:avLst/>
          </a:prstGeom>
          <a:noFill/>
          <a:ln/>
        </p:spPr>
        <p:txBody>
          <a:bodyPr wrap="square" lIns="25400" tIns="25400" rIns="25400" bIns="25400" rtlCol="0" anchor="t">
            <a:normAutofit/>
          </a:bodyPr>
          <a:lstStyle/>
          <a:p>
            <a:pPr algn="l" indent="0" marL="0">
              <a:lnSpc>
                <a:spcPct val="63005"/>
              </a:lnSpc>
              <a:buNone/>
            </a:pPr>
            <a:r>
              <a:rPr lang="en-US" sz="4800" dirty="0">
                <a:solidFill>
                  <a:srgbClr val="FFFFFF"/>
                </a:solidFill>
                <a:latin typeface="Anton" pitchFamily="34" charset="0"/>
                <a:ea typeface="Anton" pitchFamily="34" charset="-122"/>
                <a:cs typeface="Anton" pitchFamily="34" charset="-120"/>
              </a:rPr>
              <a:t>68.49 km²</a:t>
            </a:r>
            <a:endParaRPr lang="en-US" sz="4800" dirty="0"/>
          </a:p>
        </p:txBody>
      </p:sp>
      <p:sp>
        <p:nvSpPr>
          <p:cNvPr id="14" name="Text 12"/>
          <p:cNvSpPr/>
          <p:nvPr/>
        </p:nvSpPr>
        <p:spPr>
          <a:xfrm>
            <a:off x="12347525" y="4656088"/>
            <a:ext cx="4833481" cy="706636"/>
          </a:xfrm>
          <a:prstGeom prst="rect">
            <a:avLst/>
          </a:prstGeom>
          <a:noFill/>
          <a:ln/>
        </p:spPr>
        <p:txBody>
          <a:bodyPr wrap="square" lIns="25400" tIns="25400" rIns="25400" bIns="25400" rtlCol="0" anchor="t">
            <a:normAutofit/>
          </a:bodyPr>
          <a:lstStyle/>
          <a:p>
            <a:pPr algn="l" indent="0" marL="0">
              <a:lnSpc>
                <a:spcPct val="111429"/>
              </a:lnSpc>
              <a:buNone/>
            </a:pPr>
            <a:r>
              <a:rPr lang="en-US" sz="1950" dirty="0">
                <a:solidFill>
                  <a:srgbClr val="AAB8C2"/>
                </a:solidFill>
                <a:latin typeface="Inter" pitchFamily="34" charset="0"/>
                <a:ea typeface="Inter" pitchFamily="34" charset="-122"/>
                <a:cs typeface="Inter" pitchFamily="34" charset="-120"/>
              </a:rPr>
              <a:t>Previously occupied territory no longer mapped occupied</a:t>
            </a:r>
            <a:endParaRPr lang="en-US" sz="1950" dirty="0"/>
          </a:p>
        </p:txBody>
      </p:sp>
      <p:sp>
        <p:nvSpPr>
          <p:cNvPr id="15" name="Text 13"/>
          <p:cNvSpPr/>
          <p:nvPr/>
        </p:nvSpPr>
        <p:spPr>
          <a:xfrm>
            <a:off x="952500" y="6000899"/>
            <a:ext cx="16764000" cy="533400"/>
          </a:xfrm>
          <a:prstGeom prst="rect">
            <a:avLst/>
          </a:prstGeom>
          <a:noFill/>
          <a:ln/>
        </p:spPr>
        <p:txBody>
          <a:bodyPr wrap="square" lIns="25400" tIns="25400" rIns="25400" bIns="25400" rtlCol="0" anchor="t">
            <a:normAutofit/>
          </a:bodyPr>
          <a:lstStyle/>
          <a:p>
            <a:pPr algn="l" indent="0" marL="0">
              <a:lnSpc>
                <a:spcPct val="107216"/>
              </a:lnSpc>
              <a:buNone/>
            </a:pPr>
            <a:r>
              <a:rPr lang="en-US" sz="3000" dirty="0">
                <a:solidFill>
                  <a:srgbClr val="FFFFFF"/>
                </a:solidFill>
                <a:latin typeface="Inter" pitchFamily="34" charset="0"/>
                <a:ea typeface="Inter" pitchFamily="34" charset="-122"/>
                <a:cs typeface="Inter" pitchFamily="34" charset="-120"/>
              </a:rPr>
              <a:t>Gray matters only when we know what that same land was before.</a:t>
            </a:r>
            <a:endParaRPr lang="en-US" sz="3000" dirty="0"/>
          </a:p>
        </p:txBody>
      </p:sp>
      <p:sp>
        <p:nvSpPr>
          <p:cNvPr id="16" name="Shape 14"/>
          <p:cNvSpPr/>
          <p:nvPr/>
        </p:nvSpPr>
        <p:spPr>
          <a:xfrm>
            <a:off x="952500" y="6877199"/>
            <a:ext cx="16383000" cy="9525"/>
          </a:xfrm>
          <a:prstGeom prst="rect">
            <a:avLst/>
          </a:prstGeom>
          <a:solidFill>
            <a:srgbClr val="1F3A5F"/>
          </a:solidFill>
          <a:ln/>
        </p:spPr>
      </p:sp>
      <p:sp>
        <p:nvSpPr>
          <p:cNvPr id="17" name="Text 15"/>
          <p:cNvSpPr/>
          <p:nvPr/>
        </p:nvSpPr>
        <p:spPr>
          <a:xfrm>
            <a:off x="952500" y="7153424"/>
            <a:ext cx="8260652" cy="1156767"/>
          </a:xfrm>
          <a:prstGeom prst="rect">
            <a:avLst/>
          </a:prstGeom>
          <a:noFill/>
          <a:ln/>
        </p:spPr>
        <p:txBody>
          <a:bodyPr wrap="square" lIns="25400" tIns="25400" rIns="25400" bIns="25400" rtlCol="0" anchor="t">
            <a:normAutofit/>
          </a:bodyPr>
          <a:lstStyle/>
          <a:p>
            <a:pPr algn="l" indent="0" marL="0">
              <a:lnSpc>
                <a:spcPct val="120462"/>
              </a:lnSpc>
              <a:buNone/>
            </a:pPr>
            <a:r>
              <a:rPr lang="en-US" sz="2025" dirty="0">
                <a:solidFill>
                  <a:srgbClr val="FFFFFF"/>
                </a:solidFill>
                <a:latin typeface="JetBrains Mono" pitchFamily="34" charset="0"/>
                <a:ea typeface="JetBrains Mono" pitchFamily="34" charset="-122"/>
                <a:cs typeface="JetBrains Mono" pitchFamily="34" charset="-120"/>
              </a:rPr>
              <a:t>occupied → gray </a:t>
            </a:r>
            <a:pPr algn="l" indent="0" marL="0">
              <a:lnSpc>
                <a:spcPct val="120462"/>
              </a:lnSpc>
              <a:buNone/>
            </a:pPr>
            <a:r>
              <a:rPr lang="en-US" sz="2025" dirty="0">
                <a:solidFill>
                  <a:srgbClr val="AAB8C2"/>
                </a:solidFill>
                <a:latin typeface="Inter" pitchFamily="34" charset="0"/>
                <a:ea typeface="Inter" pitchFamily="34" charset="-122"/>
                <a:cs typeface="Inter" pitchFamily="34" charset="-120"/>
              </a:rPr>
              <a:t>can indicate a loss of Russian control. </a:t>
            </a:r>
            <a:pPr algn="l" indent="0" marL="0">
              <a:lnSpc>
                <a:spcPct val="120462"/>
              </a:lnSpc>
              <a:buNone/>
            </a:pPr>
            <a:r>
              <a:rPr lang="en-US" sz="2025" dirty="0">
                <a:solidFill>
                  <a:srgbClr val="FFFFFF"/>
                </a:solidFill>
                <a:latin typeface="JetBrains Mono" pitchFamily="34" charset="0"/>
                <a:ea typeface="JetBrains Mono" pitchFamily="34" charset="-122"/>
                <a:cs typeface="JetBrains Mono" pitchFamily="34" charset="-120"/>
              </a:rPr>
              <a:t>liberated → gray </a:t>
            </a:r>
            <a:pPr algn="l" indent="0" marL="0">
              <a:lnSpc>
                <a:spcPct val="120462"/>
              </a:lnSpc>
              <a:buNone/>
            </a:pPr>
            <a:r>
              <a:rPr lang="en-US" sz="2025" dirty="0">
                <a:solidFill>
                  <a:srgbClr val="AAB8C2"/>
                </a:solidFill>
                <a:latin typeface="Inter" pitchFamily="34" charset="0"/>
                <a:ea typeface="Inter" pitchFamily="34" charset="-122"/>
                <a:cs typeface="Inter" pitchFamily="34" charset="-120"/>
              </a:rPr>
              <a:t>would indicate deterioration for Ukraine.</a:t>
            </a:r>
            <a:endParaRPr lang="en-US" sz="2025" dirty="0"/>
          </a:p>
        </p:txBody>
      </p:sp>
      <p:sp>
        <p:nvSpPr>
          <p:cNvPr id="18" name="Text 16"/>
          <p:cNvSpPr/>
          <p:nvPr/>
        </p:nvSpPr>
        <p:spPr>
          <a:xfrm>
            <a:off x="9315450" y="7153424"/>
            <a:ext cx="8260652" cy="1156767"/>
          </a:xfrm>
          <a:prstGeom prst="rect">
            <a:avLst/>
          </a:prstGeom>
          <a:noFill/>
          <a:ln/>
        </p:spPr>
        <p:txBody>
          <a:bodyPr wrap="square" lIns="25400" tIns="25400" rIns="25400" bIns="25400" rtlCol="0" anchor="t">
            <a:normAutofit/>
          </a:bodyPr>
          <a:lstStyle/>
          <a:p>
            <a:pPr algn="l" indent="0" marL="0">
              <a:lnSpc>
                <a:spcPct val="120462"/>
              </a:lnSpc>
              <a:buNone/>
            </a:pPr>
            <a:r>
              <a:rPr lang="en-US" sz="2025" dirty="0">
                <a:solidFill>
                  <a:srgbClr val="AAB8C2"/>
                </a:solidFill>
                <a:latin typeface="Inter" pitchFamily="34" charset="0"/>
                <a:ea typeface="Inter" pitchFamily="34" charset="-122"/>
                <a:cs typeface="Inter" pitchFamily="34" charset="-120"/>
              </a:rPr>
              <a:t>So the method compares transitions at the same coordinates instead of treating “gray increased” or “gray decreased” as inherently good or bad.</a:t>
            </a:r>
            <a:endParaRPr lang="en-US" sz="2025" dirty="0"/>
          </a:p>
        </p:txBody>
      </p:sp>
      <p:sp>
        <p:nvSpPr>
          <p:cNvPr id="19" name="Text 17"/>
          <p:cNvSpPr/>
          <p:nvPr/>
        </p:nvSpPr>
        <p:spPr>
          <a:xfrm>
            <a:off x="952500" y="9646965"/>
            <a:ext cx="18021300"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Copyright Walker Rowe, Hypatia Academy Cyprus 2026</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952500" y="2838524"/>
            <a:ext cx="18021300" cy="678135"/>
          </a:xfrm>
          <a:prstGeom prst="rect">
            <a:avLst/>
          </a:prstGeom>
          <a:noFill/>
          <a:ln/>
        </p:spPr>
        <p:txBody>
          <a:bodyPr wrap="square" lIns="25400" tIns="25400" rIns="25400" bIns="25400" rtlCol="0" anchor="t">
            <a:normAutofit/>
          </a:bodyPr>
          <a:lstStyle/>
          <a:p>
            <a:pPr algn="l" indent="0" marL="0">
              <a:lnSpc>
                <a:spcPct val="69637"/>
              </a:lnSpc>
              <a:buNone/>
            </a:pPr>
            <a:r>
              <a:rPr lang="en-US" sz="4800" spc="24" kern="0" dirty="0">
                <a:solidFill>
                  <a:srgbClr val="FFFFFF"/>
                </a:solidFill>
                <a:latin typeface="Anton" pitchFamily="34" charset="0"/>
                <a:ea typeface="Anton" pitchFamily="34" charset="-122"/>
                <a:cs typeface="Anton" pitchFamily="34" charset="-120"/>
              </a:rPr>
              <a:t>WHAT EXACTLY ARE WE MEASURING?</a:t>
            </a:r>
            <a:endParaRPr lang="en-US" sz="4800" dirty="0"/>
          </a:p>
        </p:txBody>
      </p:sp>
      <p:sp>
        <p:nvSpPr>
          <p:cNvPr id="3" name="Text 1"/>
          <p:cNvSpPr/>
          <p:nvPr/>
        </p:nvSpPr>
        <p:spPr>
          <a:xfrm>
            <a:off x="952500" y="3897660"/>
            <a:ext cx="8241030" cy="1363935"/>
          </a:xfrm>
          <a:prstGeom prst="rect">
            <a:avLst/>
          </a:prstGeom>
          <a:noFill/>
          <a:ln/>
        </p:spPr>
        <p:txBody>
          <a:bodyPr wrap="square" lIns="25400" tIns="25400" rIns="25400" bIns="25400" rtlCol="0" anchor="t">
            <a:normAutofit/>
          </a:bodyPr>
          <a:lstStyle/>
          <a:p>
            <a:pPr algn="l" indent="0" marL="0">
              <a:lnSpc>
                <a:spcPct val="120519"/>
              </a:lnSpc>
              <a:buNone/>
            </a:pPr>
            <a:r>
              <a:rPr lang="en-US" sz="2400" dirty="0">
                <a:solidFill>
                  <a:srgbClr val="AAB8C2"/>
                </a:solidFill>
                <a:latin typeface="Inter" pitchFamily="34" charset="0"/>
                <a:ea typeface="Inter" pitchFamily="34" charset="-122"/>
                <a:cs typeface="Inter" pitchFamily="34" charset="-120"/>
              </a:rPr>
              <a:t>Every DeepState snapshot is a set of GeoJSON polygons. Each polygon carries exact geographic coordinates plus a machine-readable status.</a:t>
            </a:r>
            <a:endParaRPr lang="en-US" sz="2400" dirty="0"/>
          </a:p>
        </p:txBody>
      </p:sp>
      <p:sp>
        <p:nvSpPr>
          <p:cNvPr id="4" name="Shape 2"/>
          <p:cNvSpPr/>
          <p:nvPr/>
        </p:nvSpPr>
        <p:spPr>
          <a:xfrm>
            <a:off x="952500" y="5471145"/>
            <a:ext cx="8001000" cy="2072506"/>
          </a:xfrm>
          <a:prstGeom prst="roundRect">
            <a:avLst>
              <a:gd name="adj" fmla="val 3677"/>
            </a:avLst>
          </a:prstGeom>
          <a:solidFill>
            <a:srgbClr val="122F4A"/>
          </a:solidFill>
          <a:ln w="9525">
            <a:solidFill>
              <a:srgbClr val="1F3A5F"/>
            </a:solidFill>
            <a:prstDash val="solid"/>
          </a:ln>
        </p:spPr>
      </p:sp>
      <p:sp>
        <p:nvSpPr>
          <p:cNvPr id="5" name="Text 3"/>
          <p:cNvSpPr/>
          <p:nvPr/>
        </p:nvSpPr>
        <p:spPr>
          <a:xfrm>
            <a:off x="1228725" y="5747370"/>
            <a:ext cx="7672007" cy="544785"/>
          </a:xfrm>
          <a:prstGeom prst="rect">
            <a:avLst/>
          </a:prstGeom>
          <a:noFill/>
          <a:ln/>
        </p:spPr>
        <p:txBody>
          <a:bodyPr wrap="square" lIns="25400" tIns="25400" rIns="25400" bIns="25400" rtlCol="0" anchor="t">
            <a:normAutofit/>
          </a:bodyPr>
          <a:lstStyle/>
          <a:p>
            <a:pPr algn="l" indent="0" marL="0">
              <a:lnSpc>
                <a:spcPct val="143784"/>
              </a:lnSpc>
              <a:buNone/>
            </a:pPr>
            <a:r>
              <a:rPr lang="en-US" sz="2100" dirty="0">
                <a:solidFill>
                  <a:srgbClr val="FF7A00"/>
                </a:solidFill>
                <a:latin typeface="JetBrains Mono" pitchFamily="34" charset="0"/>
                <a:ea typeface="JetBrains Mono" pitchFamily="34" charset="-122"/>
                <a:cs typeface="JetBrains Mono" pitchFamily="34" charset="-120"/>
              </a:rPr>
              <a:t>geoJSON.status.occupied</a:t>
            </a:r>
            <a:endParaRPr lang="en-US" sz="2100" dirty="0"/>
          </a:p>
        </p:txBody>
      </p:sp>
      <p:sp>
        <p:nvSpPr>
          <p:cNvPr id="6" name="Text 4"/>
          <p:cNvSpPr/>
          <p:nvPr/>
        </p:nvSpPr>
        <p:spPr>
          <a:xfrm>
            <a:off x="1228725" y="6254055"/>
            <a:ext cx="7672007" cy="544785"/>
          </a:xfrm>
          <a:prstGeom prst="rect">
            <a:avLst/>
          </a:prstGeom>
          <a:noFill/>
          <a:ln/>
        </p:spPr>
        <p:txBody>
          <a:bodyPr wrap="square" lIns="25400" tIns="25400" rIns="25400" bIns="25400" rtlCol="0" anchor="t">
            <a:normAutofit/>
          </a:bodyPr>
          <a:lstStyle/>
          <a:p>
            <a:pPr algn="l" indent="0" marL="0">
              <a:lnSpc>
                <a:spcPct val="143784"/>
              </a:lnSpc>
              <a:buNone/>
            </a:pPr>
            <a:r>
              <a:rPr lang="en-US" sz="2100" dirty="0">
                <a:solidFill>
                  <a:srgbClr val="AAB8C2"/>
                </a:solidFill>
                <a:latin typeface="JetBrains Mono" pitchFamily="34" charset="0"/>
                <a:ea typeface="JetBrains Mono" pitchFamily="34" charset="-122"/>
                <a:cs typeface="JetBrains Mono" pitchFamily="34" charset="-120"/>
              </a:rPr>
              <a:t>geoJSON.status.unknown</a:t>
            </a:r>
            <a:endParaRPr lang="en-US" sz="2100" dirty="0"/>
          </a:p>
        </p:txBody>
      </p:sp>
      <p:sp>
        <p:nvSpPr>
          <p:cNvPr id="7" name="Text 5"/>
          <p:cNvSpPr/>
          <p:nvPr/>
        </p:nvSpPr>
        <p:spPr>
          <a:xfrm>
            <a:off x="1228725" y="6760741"/>
            <a:ext cx="7672007" cy="544785"/>
          </a:xfrm>
          <a:prstGeom prst="rect">
            <a:avLst/>
          </a:prstGeom>
          <a:noFill/>
          <a:ln/>
        </p:spPr>
        <p:txBody>
          <a:bodyPr wrap="square" lIns="25400" tIns="25400" rIns="25400" bIns="25400" rtlCol="0" anchor="t">
            <a:normAutofit/>
          </a:bodyPr>
          <a:lstStyle/>
          <a:p>
            <a:pPr algn="l" indent="0" marL="0">
              <a:lnSpc>
                <a:spcPct val="143784"/>
              </a:lnSpc>
              <a:buNone/>
            </a:pPr>
            <a:r>
              <a:rPr lang="en-US" sz="2100" dirty="0">
                <a:solidFill>
                  <a:srgbClr val="00D1FF"/>
                </a:solidFill>
                <a:latin typeface="JetBrains Mono" pitchFamily="34" charset="0"/>
                <a:ea typeface="JetBrains Mono" pitchFamily="34" charset="-122"/>
                <a:cs typeface="JetBrains Mono" pitchFamily="34" charset="-120"/>
              </a:rPr>
              <a:t>geoJSON.status.dismissed</a:t>
            </a:r>
            <a:pPr algn="l" indent="0" marL="0">
              <a:lnSpc>
                <a:spcPct val="143784"/>
              </a:lnSpc>
              <a:buNone/>
            </a:pPr>
            <a:r>
              <a:rPr lang="en-US" sz="2100" dirty="0">
                <a:solidFill>
                  <a:srgbClr val="AAB8C2"/>
                </a:solidFill>
                <a:latin typeface="JetBrains Mono" pitchFamily="34" charset="0"/>
                <a:ea typeface="JetBrains Mono" pitchFamily="34" charset="-122"/>
                <a:cs typeface="JetBrains Mono" pitchFamily="34" charset="-120"/>
              </a:rPr>
              <a:t>→ liberated</a:t>
            </a:r>
            <a:endParaRPr lang="en-US" sz="2100" dirty="0"/>
          </a:p>
        </p:txBody>
      </p:sp>
      <p:sp>
        <p:nvSpPr>
          <p:cNvPr id="8" name="Shape 6"/>
          <p:cNvSpPr/>
          <p:nvPr/>
        </p:nvSpPr>
        <p:spPr>
          <a:xfrm>
            <a:off x="9334500" y="3897660"/>
            <a:ext cx="8001000" cy="3497535"/>
          </a:xfrm>
          <a:prstGeom prst="roundRect">
            <a:avLst>
              <a:gd name="adj" fmla="val 2179"/>
            </a:avLst>
          </a:prstGeom>
          <a:solidFill>
            <a:srgbClr val="1C3F60"/>
          </a:solidFill>
          <a:ln w="9525">
            <a:solidFill>
              <a:srgbClr val="1F3A5F"/>
            </a:solidFill>
            <a:prstDash val="solid"/>
          </a:ln>
        </p:spPr>
      </p:sp>
      <p:sp>
        <p:nvSpPr>
          <p:cNvPr id="9" name="Text 7"/>
          <p:cNvSpPr/>
          <p:nvPr/>
        </p:nvSpPr>
        <p:spPr>
          <a:xfrm>
            <a:off x="9725025" y="4326285"/>
            <a:ext cx="7941945"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spc="225" kern="0" dirty="0">
                <a:solidFill>
                  <a:srgbClr val="00D1FF"/>
                </a:solidFill>
                <a:latin typeface="JetBrains Mono" pitchFamily="34" charset="0"/>
                <a:ea typeface="JetBrains Mono" pitchFamily="34" charset="-122"/>
                <a:cs typeface="JetBrains Mono" pitchFamily="34" charset="-120"/>
              </a:rPr>
              <a:t>READ THIS FIRST</a:t>
            </a:r>
            <a:endParaRPr lang="en-US" sz="1800" dirty="0"/>
          </a:p>
        </p:txBody>
      </p:sp>
      <p:sp>
        <p:nvSpPr>
          <p:cNvPr id="10" name="Text 8"/>
          <p:cNvSpPr/>
          <p:nvPr/>
        </p:nvSpPr>
        <p:spPr>
          <a:xfrm>
            <a:off x="9725025" y="4909170"/>
            <a:ext cx="7436549" cy="2095500"/>
          </a:xfrm>
          <a:prstGeom prst="rect">
            <a:avLst/>
          </a:prstGeom>
          <a:noFill/>
          <a:ln/>
        </p:spPr>
        <p:txBody>
          <a:bodyPr wrap="square" lIns="25400" tIns="25400" rIns="25400" bIns="25400" rtlCol="0" anchor="t">
            <a:normAutofit/>
          </a:bodyPr>
          <a:lstStyle/>
          <a:p>
            <a:pPr algn="l" indent="0" marL="0">
              <a:lnSpc>
                <a:spcPct val="111340"/>
              </a:lnSpc>
              <a:buNone/>
            </a:pPr>
            <a:r>
              <a:rPr lang="en-US" sz="3000" dirty="0">
                <a:solidFill>
                  <a:srgbClr val="FFFFFF"/>
                </a:solidFill>
                <a:latin typeface="Inter" pitchFamily="34" charset="0"/>
                <a:ea typeface="Inter" pitchFamily="34" charset="-122"/>
                <a:cs typeface="Inter" pitchFamily="34" charset="-120"/>
              </a:rPr>
              <a:t>We are measuring changes in DeepState’s published classification — not independently determining battlefield control.</a:t>
            </a:r>
            <a:endParaRPr lang="en-US" sz="3000" dirty="0"/>
          </a:p>
        </p:txBody>
      </p:sp>
      <p:sp>
        <p:nvSpPr>
          <p:cNvPr id="11" name="Text 9"/>
          <p:cNvSpPr/>
          <p:nvPr/>
        </p:nvSpPr>
        <p:spPr>
          <a:xfrm>
            <a:off x="952500" y="9646965"/>
            <a:ext cx="18021300"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Copyright Walker Rowe, Hypatia Academy Cyprus 2026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952500" y="1351062"/>
            <a:ext cx="18021300" cy="678135"/>
          </a:xfrm>
          <a:prstGeom prst="rect">
            <a:avLst/>
          </a:prstGeom>
          <a:noFill/>
          <a:ln/>
        </p:spPr>
        <p:txBody>
          <a:bodyPr wrap="square" lIns="25400" tIns="25400" rIns="25400" bIns="25400" rtlCol="0" anchor="t">
            <a:normAutofit/>
          </a:bodyPr>
          <a:lstStyle/>
          <a:p>
            <a:pPr algn="l" indent="0" marL="0">
              <a:lnSpc>
                <a:spcPct val="69637"/>
              </a:lnSpc>
              <a:buNone/>
            </a:pPr>
            <a:r>
              <a:rPr lang="en-US" sz="4800" spc="24" kern="0" dirty="0">
                <a:solidFill>
                  <a:srgbClr val="FFFFFF"/>
                </a:solidFill>
                <a:latin typeface="Anton" pitchFamily="34" charset="0"/>
                <a:ea typeface="Anton" pitchFamily="34" charset="-122"/>
                <a:cs typeface="Anton" pitchFamily="34" charset="-120"/>
              </a:rPr>
              <a:t>THE CENTRAL SPATIAL QUESTION</a:t>
            </a:r>
            <a:endParaRPr lang="en-US" sz="4800" dirty="0"/>
          </a:p>
        </p:txBody>
      </p:sp>
      <p:sp>
        <p:nvSpPr>
          <p:cNvPr id="3" name="Shape 1"/>
          <p:cNvSpPr/>
          <p:nvPr/>
        </p:nvSpPr>
        <p:spPr>
          <a:xfrm>
            <a:off x="952500" y="2333997"/>
            <a:ext cx="5283175" cy="4874196"/>
          </a:xfrm>
          <a:prstGeom prst="roundRect">
            <a:avLst>
              <a:gd name="adj" fmla="val 1563"/>
            </a:avLst>
          </a:prstGeom>
          <a:solidFill>
            <a:srgbClr val="122F4A"/>
          </a:solidFill>
          <a:ln w="9525">
            <a:solidFill>
              <a:srgbClr val="1F3A5F"/>
            </a:solidFill>
            <a:prstDash val="solid"/>
          </a:ln>
        </p:spPr>
      </p:sp>
      <p:sp>
        <p:nvSpPr>
          <p:cNvPr id="4" name="Text 2"/>
          <p:cNvSpPr/>
          <p:nvPr/>
        </p:nvSpPr>
        <p:spPr>
          <a:xfrm>
            <a:off x="1190625" y="2572122"/>
            <a:ext cx="5287618"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FF7A00"/>
                </a:solidFill>
                <a:latin typeface="JetBrains Mono" pitchFamily="34" charset="0"/>
                <a:ea typeface="JetBrains Mono" pitchFamily="34" charset="-122"/>
                <a:cs typeface="JetBrains Mono" pitchFamily="34" charset="-120"/>
              </a:rPr>
              <a:t>1 · OCCUPIED_BEFORE</a:t>
            </a:r>
            <a:endParaRPr lang="en-US" sz="18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90625" y="3059757"/>
            <a:ext cx="4806925" cy="3845496"/>
          </a:xfrm>
          <a:prstGeom prst="rect">
            <a:avLst/>
          </a:prstGeom>
        </p:spPr>
      </p:pic>
      <p:sp>
        <p:nvSpPr>
          <p:cNvPr id="6" name="Shape 3"/>
          <p:cNvSpPr/>
          <p:nvPr/>
        </p:nvSpPr>
        <p:spPr>
          <a:xfrm>
            <a:off x="6502375" y="2333997"/>
            <a:ext cx="5283175" cy="4874196"/>
          </a:xfrm>
          <a:prstGeom prst="roundRect">
            <a:avLst>
              <a:gd name="adj" fmla="val 1563"/>
            </a:avLst>
          </a:prstGeom>
          <a:solidFill>
            <a:srgbClr val="122F4A"/>
          </a:solidFill>
          <a:ln w="9525">
            <a:solidFill>
              <a:srgbClr val="1F3A5F"/>
            </a:solidFill>
            <a:prstDash val="solid"/>
          </a:ln>
        </p:spPr>
      </p:sp>
      <p:sp>
        <p:nvSpPr>
          <p:cNvPr id="7" name="Text 4"/>
          <p:cNvSpPr/>
          <p:nvPr/>
        </p:nvSpPr>
        <p:spPr>
          <a:xfrm>
            <a:off x="6740500" y="2572122"/>
            <a:ext cx="5287618"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00D1FF"/>
                </a:solidFill>
                <a:latin typeface="JetBrains Mono" pitchFamily="34" charset="0"/>
                <a:ea typeface="JetBrains Mono" pitchFamily="34" charset="-122"/>
                <a:cs typeface="JetBrains Mono" pitchFamily="34" charset="-120"/>
              </a:rPr>
              <a:t>2 · LIBERATED_LATEST</a:t>
            </a:r>
            <a:endParaRPr lang="en-US" sz="18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40500" y="3059757"/>
            <a:ext cx="4806925" cy="3845496"/>
          </a:xfrm>
          <a:prstGeom prst="rect">
            <a:avLst/>
          </a:prstGeom>
        </p:spPr>
      </p:pic>
      <p:sp>
        <p:nvSpPr>
          <p:cNvPr id="9" name="Shape 5"/>
          <p:cNvSpPr/>
          <p:nvPr/>
        </p:nvSpPr>
        <p:spPr>
          <a:xfrm>
            <a:off x="12052250" y="2333997"/>
            <a:ext cx="5283250" cy="4874196"/>
          </a:xfrm>
          <a:prstGeom prst="roundRect">
            <a:avLst>
              <a:gd name="adj" fmla="val 1563"/>
            </a:avLst>
          </a:prstGeom>
          <a:solidFill>
            <a:srgbClr val="1C3F60"/>
          </a:solidFill>
          <a:ln w="9525">
            <a:solidFill>
              <a:srgbClr val="00D1FF"/>
            </a:solidFill>
            <a:prstDash val="solid"/>
          </a:ln>
        </p:spPr>
      </p:sp>
      <p:sp>
        <p:nvSpPr>
          <p:cNvPr id="10" name="Text 6"/>
          <p:cNvSpPr/>
          <p:nvPr/>
        </p:nvSpPr>
        <p:spPr>
          <a:xfrm>
            <a:off x="12290375" y="2572122"/>
            <a:ext cx="5287700"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00D1FF"/>
                </a:solidFill>
                <a:latin typeface="JetBrains Mono" pitchFamily="34" charset="0"/>
                <a:ea typeface="JetBrains Mono" pitchFamily="34" charset="-122"/>
                <a:cs typeface="JetBrains Mono" pitchFamily="34" charset="-120"/>
              </a:rPr>
              <a:t>3 · INTERSECTION</a:t>
            </a:r>
            <a:endParaRPr lang="en-US" sz="18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290375" y="3059757"/>
            <a:ext cx="4807000" cy="3845570"/>
          </a:xfrm>
          <a:prstGeom prst="rect">
            <a:avLst/>
          </a:prstGeom>
        </p:spPr>
      </p:pic>
      <p:sp>
        <p:nvSpPr>
          <p:cNvPr id="12" name="Shape 7"/>
          <p:cNvSpPr/>
          <p:nvPr/>
        </p:nvSpPr>
        <p:spPr>
          <a:xfrm>
            <a:off x="952500" y="7551093"/>
            <a:ext cx="9566895" cy="1480096"/>
          </a:xfrm>
          <a:prstGeom prst="roundRect">
            <a:avLst>
              <a:gd name="adj" fmla="val 5148"/>
            </a:avLst>
          </a:prstGeom>
          <a:solidFill>
            <a:srgbClr val="122F4A"/>
          </a:solidFill>
          <a:ln w="9525">
            <a:solidFill>
              <a:srgbClr val="1F3A5F"/>
            </a:solidFill>
            <a:prstDash val="solid"/>
          </a:ln>
        </p:spPr>
      </p:sp>
      <p:sp>
        <p:nvSpPr>
          <p:cNvPr id="13" name="Text 8"/>
          <p:cNvSpPr/>
          <p:nvPr/>
        </p:nvSpPr>
        <p:spPr>
          <a:xfrm>
            <a:off x="1266825" y="7789218"/>
            <a:ext cx="9225252" cy="1041946"/>
          </a:xfrm>
          <a:prstGeom prst="rect">
            <a:avLst/>
          </a:prstGeom>
          <a:noFill/>
          <a:ln/>
        </p:spPr>
        <p:txBody>
          <a:bodyPr wrap="square" lIns="25400" tIns="25400" rIns="25400" bIns="25400" rtlCol="0" anchor="t">
            <a:normAutofit/>
          </a:bodyPr>
          <a:lstStyle/>
          <a:p>
            <a:pPr algn="l" indent="0" marL="0">
              <a:lnSpc>
                <a:spcPct val="118427"/>
              </a:lnSpc>
              <a:buNone/>
            </a:pPr>
            <a:r>
              <a:rPr lang="en-US" sz="2550" dirty="0">
                <a:solidFill>
                  <a:srgbClr val="FFFFFF"/>
                </a:solidFill>
                <a:latin typeface="JetBrains Mono" pitchFamily="34" charset="0"/>
                <a:ea typeface="JetBrains Mono" pitchFamily="34" charset="-122"/>
                <a:cs typeface="JetBrains Mono" pitchFamily="34" charset="-120"/>
              </a:rPr>
              <a:t>gain = occupied_before.intersection(liberated_latest)</a:t>
            </a:r>
            <a:endParaRPr lang="en-US" sz="2550" dirty="0"/>
          </a:p>
        </p:txBody>
      </p:sp>
      <p:sp>
        <p:nvSpPr>
          <p:cNvPr id="14" name="Text 9"/>
          <p:cNvSpPr/>
          <p:nvPr/>
        </p:nvSpPr>
        <p:spPr>
          <a:xfrm>
            <a:off x="10862295" y="7917805"/>
            <a:ext cx="6667401" cy="784771"/>
          </a:xfrm>
          <a:prstGeom prst="rect">
            <a:avLst/>
          </a:prstGeom>
          <a:noFill/>
          <a:ln/>
        </p:spPr>
        <p:txBody>
          <a:bodyPr wrap="square" lIns="25400" tIns="25400" rIns="25400" bIns="25400" rtlCol="0" anchor="t">
            <a:normAutofit/>
          </a:bodyPr>
          <a:lstStyle/>
          <a:p>
            <a:pPr algn="l" indent="0" marL="0">
              <a:lnSpc>
                <a:spcPct val="115294"/>
              </a:lnSpc>
              <a:buNone/>
            </a:pPr>
            <a:r>
              <a:rPr lang="en-US" sz="2100" dirty="0">
                <a:solidFill>
                  <a:srgbClr val="AAB8C2"/>
                </a:solidFill>
                <a:latin typeface="Inter" pitchFamily="34" charset="0"/>
                <a:ea typeface="Inter" pitchFamily="34" charset="-122"/>
                <a:cs typeface="Inter" pitchFamily="34" charset="-120"/>
              </a:rPr>
              <a:t>Every coordinate in the result was </a:t>
            </a:r>
            <a:pPr algn="l" indent="0" marL="0">
              <a:lnSpc>
                <a:spcPct val="115294"/>
              </a:lnSpc>
              <a:buNone/>
            </a:pPr>
            <a:r>
              <a:rPr lang="en-US" sz="2100" dirty="0">
                <a:solidFill>
                  <a:srgbClr val="FF7A00"/>
                </a:solidFill>
                <a:latin typeface="Inter" pitchFamily="34" charset="0"/>
                <a:ea typeface="Inter" pitchFamily="34" charset="-122"/>
                <a:cs typeface="Inter" pitchFamily="34" charset="-120"/>
              </a:rPr>
              <a:t>occupied at baseline </a:t>
            </a:r>
            <a:pPr algn="l" indent="0" marL="0">
              <a:lnSpc>
                <a:spcPct val="115294"/>
              </a:lnSpc>
              <a:buNone/>
            </a:pPr>
            <a:r>
              <a:rPr lang="en-US" sz="2100" b="1" dirty="0">
                <a:solidFill>
                  <a:srgbClr val="FFFFFF"/>
                </a:solidFill>
                <a:latin typeface="Inter" pitchFamily="34" charset="0"/>
                <a:ea typeface="Inter" pitchFamily="34" charset="-122"/>
                <a:cs typeface="Inter" pitchFamily="34" charset="-120"/>
              </a:rPr>
              <a:t>and </a:t>
            </a:r>
            <a:pPr algn="l" indent="0" marL="0">
              <a:lnSpc>
                <a:spcPct val="115294"/>
              </a:lnSpc>
              <a:buNone/>
            </a:pPr>
            <a:r>
              <a:rPr lang="en-US" sz="2100" dirty="0">
                <a:solidFill>
                  <a:srgbClr val="00D1FF"/>
                </a:solidFill>
                <a:latin typeface="Inter" pitchFamily="34" charset="0"/>
                <a:ea typeface="Inter" pitchFamily="34" charset="-122"/>
                <a:cs typeface="Inter" pitchFamily="34" charset="-120"/>
              </a:rPr>
              <a:t>liberated at the latest snapshot</a:t>
            </a:r>
            <a:pPr algn="l" indent="0" marL="0">
              <a:lnSpc>
                <a:spcPct val="115294"/>
              </a:lnSpc>
              <a:buNone/>
            </a:pPr>
            <a:r>
              <a:rPr lang="en-US" sz="2100" dirty="0">
                <a:solidFill>
                  <a:srgbClr val="AAB8C2"/>
                </a:solidFill>
                <a:latin typeface="Inter" pitchFamily="34" charset="0"/>
                <a:ea typeface="Inter" pitchFamily="34" charset="-122"/>
                <a:cs typeface="Inter" pitchFamily="34" charset="-120"/>
              </a:rPr>
              <a:t>.</a:t>
            </a:r>
            <a:endParaRPr lang="en-US" sz="2100" dirty="0"/>
          </a:p>
        </p:txBody>
      </p:sp>
      <p:sp>
        <p:nvSpPr>
          <p:cNvPr id="15" name="Text 10"/>
          <p:cNvSpPr/>
          <p:nvPr/>
        </p:nvSpPr>
        <p:spPr>
          <a:xfrm>
            <a:off x="952500" y="9646965"/>
            <a:ext cx="18021300"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Copyright Walker Rowe, Hypatia Academy Cyprus 2026</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952500" y="2248867"/>
            <a:ext cx="18021300" cy="678135"/>
          </a:xfrm>
          <a:prstGeom prst="rect">
            <a:avLst/>
          </a:prstGeom>
          <a:noFill/>
          <a:ln/>
        </p:spPr>
        <p:txBody>
          <a:bodyPr wrap="square" lIns="25400" tIns="25400" rIns="25400" bIns="25400" rtlCol="0" anchor="t">
            <a:normAutofit/>
          </a:bodyPr>
          <a:lstStyle/>
          <a:p>
            <a:pPr algn="l" indent="0" marL="0">
              <a:lnSpc>
                <a:spcPct val="69637"/>
              </a:lnSpc>
              <a:buNone/>
            </a:pPr>
            <a:r>
              <a:rPr lang="en-US" sz="4800" spc="24" kern="0" dirty="0">
                <a:solidFill>
                  <a:srgbClr val="FFFFFF"/>
                </a:solidFill>
                <a:latin typeface="Anton" pitchFamily="34" charset="0"/>
                <a:ea typeface="Anton" pitchFamily="34" charset="-122"/>
                <a:cs typeface="Anton" pitchFamily="34" charset="-120"/>
              </a:rPr>
              <a:t>WHY POLYGON SIZE DOES NOT DISTORT THE RESULT</a:t>
            </a:r>
            <a:endParaRPr lang="en-US" sz="4800" dirty="0"/>
          </a:p>
        </p:txBody>
      </p:sp>
      <p:sp>
        <p:nvSpPr>
          <p:cNvPr id="3" name="Shape 1"/>
          <p:cNvSpPr/>
          <p:nvPr/>
        </p:nvSpPr>
        <p:spPr>
          <a:xfrm>
            <a:off x="952500" y="3269903"/>
            <a:ext cx="8496672" cy="4863405"/>
          </a:xfrm>
          <a:prstGeom prst="roundRect">
            <a:avLst>
              <a:gd name="adj" fmla="val 1567"/>
            </a:avLst>
          </a:prstGeom>
          <a:solidFill>
            <a:srgbClr val="122F4A"/>
          </a:solidFill>
          <a:ln w="9525">
            <a:solidFill>
              <a:srgbClr val="1F3A5F"/>
            </a:solidFill>
            <a:prstDash val="solid"/>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3269903"/>
            <a:ext cx="8496672" cy="4863405"/>
          </a:xfrm>
          <a:prstGeom prst="rect">
            <a:avLst/>
          </a:prstGeom>
        </p:spPr>
      </p:pic>
      <p:sp>
        <p:nvSpPr>
          <p:cNvPr id="5" name="Text 2"/>
          <p:cNvSpPr/>
          <p:nvPr/>
        </p:nvSpPr>
        <p:spPr>
          <a:xfrm>
            <a:off x="9963522" y="3537719"/>
            <a:ext cx="7593061" cy="1426666"/>
          </a:xfrm>
          <a:prstGeom prst="rect">
            <a:avLst/>
          </a:prstGeom>
          <a:noFill/>
          <a:ln/>
        </p:spPr>
        <p:txBody>
          <a:bodyPr wrap="square" lIns="25400" tIns="25400" rIns="25400" bIns="25400" rtlCol="0" anchor="t">
            <a:normAutofit/>
          </a:bodyPr>
          <a:lstStyle/>
          <a:p>
            <a:pPr algn="l" indent="0" marL="0">
              <a:lnSpc>
                <a:spcPct val="111724"/>
              </a:lnSpc>
              <a:buNone/>
            </a:pPr>
            <a:r>
              <a:rPr lang="en-US" sz="2700" dirty="0">
                <a:solidFill>
                  <a:srgbClr val="FFFFFF"/>
                </a:solidFill>
                <a:latin typeface="Inter" pitchFamily="34" charset="0"/>
                <a:ea typeface="Inter" pitchFamily="34" charset="-122"/>
                <a:cs typeface="Inter" pitchFamily="34" charset="-120"/>
              </a:rPr>
              <a:t>100 km² source polygon + 2 km² overlapping liberated area = </a:t>
            </a:r>
            <a:pPr algn="l" indent="0" marL="0">
              <a:lnSpc>
                <a:spcPct val="111724"/>
              </a:lnSpc>
              <a:buNone/>
            </a:pPr>
            <a:r>
              <a:rPr lang="en-US" sz="2700" dirty="0">
                <a:solidFill>
                  <a:srgbClr val="00D1FF"/>
                </a:solidFill>
                <a:latin typeface="Inter" pitchFamily="34" charset="0"/>
                <a:ea typeface="Inter" pitchFamily="34" charset="-122"/>
                <a:cs typeface="Inter" pitchFamily="34" charset="-120"/>
              </a:rPr>
              <a:t>2 km² measured change </a:t>
            </a:r>
            <a:pPr algn="l" indent="0" marL="0">
              <a:lnSpc>
                <a:spcPct val="111724"/>
              </a:lnSpc>
              <a:buNone/>
            </a:pPr>
            <a:r>
              <a:rPr lang="en-US" sz="2700" dirty="0">
                <a:solidFill>
                  <a:srgbClr val="FFFFFF"/>
                </a:solidFill>
                <a:latin typeface="Inter" pitchFamily="34" charset="0"/>
                <a:ea typeface="Inter" pitchFamily="34" charset="-122"/>
                <a:cs typeface="Inter" pitchFamily="34" charset="-120"/>
              </a:rPr>
              <a:t>, not 100 km².</a:t>
            </a:r>
            <a:endParaRPr lang="en-US" sz="2700" dirty="0"/>
          </a:p>
        </p:txBody>
      </p:sp>
      <p:sp>
        <p:nvSpPr>
          <p:cNvPr id="6" name="Shape 3"/>
          <p:cNvSpPr/>
          <p:nvPr/>
        </p:nvSpPr>
        <p:spPr>
          <a:xfrm>
            <a:off x="9963522" y="5212035"/>
            <a:ext cx="7371904" cy="9525"/>
          </a:xfrm>
          <a:prstGeom prst="rect">
            <a:avLst/>
          </a:prstGeom>
          <a:solidFill>
            <a:srgbClr val="1F3A5F"/>
          </a:solidFill>
          <a:ln/>
        </p:spPr>
      </p:sp>
      <p:sp>
        <p:nvSpPr>
          <p:cNvPr id="7" name="Text 4"/>
          <p:cNvSpPr/>
          <p:nvPr/>
        </p:nvSpPr>
        <p:spPr>
          <a:xfrm>
            <a:off x="9963522" y="5469210"/>
            <a:ext cx="7593061" cy="1375321"/>
          </a:xfrm>
          <a:prstGeom prst="rect">
            <a:avLst/>
          </a:prstGeom>
          <a:noFill/>
          <a:ln/>
        </p:spPr>
        <p:txBody>
          <a:bodyPr wrap="square" lIns="25400" tIns="25400" rIns="25400" bIns="25400" rtlCol="0" anchor="t">
            <a:normAutofit/>
          </a:bodyPr>
          <a:lstStyle/>
          <a:p>
            <a:pPr algn="l" indent="0" marL="0">
              <a:lnSpc>
                <a:spcPct val="135652"/>
              </a:lnSpc>
              <a:buNone/>
            </a:pPr>
            <a:r>
              <a:rPr lang="en-US" sz="1950" dirty="0">
                <a:solidFill>
                  <a:srgbClr val="AAB8C2"/>
                </a:solidFill>
                <a:latin typeface="JetBrains Mono" pitchFamily="34" charset="0"/>
                <a:ea typeface="JetBrains Mono" pitchFamily="34" charset="-122"/>
                <a:cs typeface="JetBrains Mono" pitchFamily="34" charset="-120"/>
              </a:rPr>
              <a:t>1 · union polygons by status 2 · intersect the unions 3 · measure only the overlap</a:t>
            </a:r>
            <a:endParaRPr lang="en-US" sz="1950" dirty="0"/>
          </a:p>
        </p:txBody>
      </p:sp>
      <p:sp>
        <p:nvSpPr>
          <p:cNvPr id="8" name="Text 5"/>
          <p:cNvSpPr/>
          <p:nvPr/>
        </p:nvSpPr>
        <p:spPr>
          <a:xfrm>
            <a:off x="9963522" y="7092181"/>
            <a:ext cx="7593061" cy="811411"/>
          </a:xfrm>
          <a:prstGeom prst="rect">
            <a:avLst/>
          </a:prstGeom>
          <a:noFill/>
          <a:ln/>
        </p:spPr>
        <p:txBody>
          <a:bodyPr wrap="square" lIns="25400" tIns="25400" rIns="25400" bIns="25400" rtlCol="0" anchor="t">
            <a:normAutofit/>
          </a:bodyPr>
          <a:lstStyle/>
          <a:p>
            <a:pPr algn="l" indent="0" marL="0">
              <a:lnSpc>
                <a:spcPct val="119412"/>
              </a:lnSpc>
              <a:buNone/>
            </a:pPr>
            <a:r>
              <a:rPr lang="en-US" sz="2100" dirty="0">
                <a:solidFill>
                  <a:srgbClr val="AAB8C2"/>
                </a:solidFill>
                <a:latin typeface="Inter" pitchFamily="34" charset="0"/>
                <a:ea typeface="Inter" pitchFamily="34" charset="-122"/>
                <a:cs typeface="Inter" pitchFamily="34" charset="-120"/>
              </a:rPr>
              <a:t>The size and number of DeepState source polygons therefore do not determine the result.</a:t>
            </a:r>
            <a:endParaRPr lang="en-US" sz="2100" dirty="0"/>
          </a:p>
        </p:txBody>
      </p:sp>
      <p:sp>
        <p:nvSpPr>
          <p:cNvPr id="9" name="Text 6"/>
          <p:cNvSpPr/>
          <p:nvPr/>
        </p:nvSpPr>
        <p:spPr>
          <a:xfrm>
            <a:off x="952500" y="9646965"/>
            <a:ext cx="18021300"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Copyright Walker Rowe, Hypatia Academy Cyprus 2026</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952500" y="2143646"/>
            <a:ext cx="18021300" cy="678135"/>
          </a:xfrm>
          <a:prstGeom prst="rect">
            <a:avLst/>
          </a:prstGeom>
          <a:noFill/>
          <a:ln/>
        </p:spPr>
        <p:txBody>
          <a:bodyPr wrap="square" lIns="25400" tIns="25400" rIns="25400" bIns="25400" rtlCol="0" anchor="t">
            <a:normAutofit/>
          </a:bodyPr>
          <a:lstStyle/>
          <a:p>
            <a:pPr algn="l" indent="0" marL="0">
              <a:lnSpc>
                <a:spcPct val="69637"/>
              </a:lnSpc>
              <a:buNone/>
            </a:pPr>
            <a:r>
              <a:rPr lang="en-US" sz="4800" spc="24" kern="0" dirty="0">
                <a:solidFill>
                  <a:srgbClr val="FFFFFF"/>
                </a:solidFill>
                <a:latin typeface="Anton" pitchFamily="34" charset="0"/>
                <a:ea typeface="Anton" pitchFamily="34" charset="-122"/>
                <a:cs typeface="Anton" pitchFamily="34" charset="-120"/>
              </a:rPr>
              <a:t>FROM DEGREES TO SQUARE KILOMETRES</a:t>
            </a:r>
            <a:endParaRPr lang="en-US" sz="4800" dirty="0"/>
          </a:p>
        </p:txBody>
      </p:sp>
      <p:sp>
        <p:nvSpPr>
          <p:cNvPr id="3" name="Shape 1"/>
          <p:cNvSpPr/>
          <p:nvPr/>
        </p:nvSpPr>
        <p:spPr>
          <a:xfrm>
            <a:off x="952500" y="3202781"/>
            <a:ext cx="7886700" cy="783878"/>
          </a:xfrm>
          <a:prstGeom prst="roundRect">
            <a:avLst>
              <a:gd name="adj" fmla="val 9721"/>
            </a:avLst>
          </a:prstGeom>
          <a:solidFill>
            <a:srgbClr val="122F4A"/>
          </a:solidFill>
          <a:ln w="9525">
            <a:solidFill>
              <a:srgbClr val="1F3A5F"/>
            </a:solidFill>
            <a:prstDash val="solid"/>
          </a:ln>
        </p:spPr>
      </p:sp>
      <p:sp>
        <p:nvSpPr>
          <p:cNvPr id="4" name="Text 2"/>
          <p:cNvSpPr/>
          <p:nvPr/>
        </p:nvSpPr>
        <p:spPr>
          <a:xfrm>
            <a:off x="1209675" y="3402806"/>
            <a:ext cx="7608951" cy="421928"/>
          </a:xfrm>
          <a:prstGeom prst="rect">
            <a:avLst/>
          </a:prstGeom>
          <a:noFill/>
          <a:ln/>
        </p:spPr>
        <p:txBody>
          <a:bodyPr wrap="square" lIns="25400" tIns="25400" rIns="25400" bIns="25400" rtlCol="0" anchor="t">
            <a:normAutofit/>
          </a:bodyPr>
          <a:lstStyle/>
          <a:p>
            <a:pPr algn="l" indent="0" marL="0">
              <a:lnSpc>
                <a:spcPct val="116812"/>
              </a:lnSpc>
              <a:buNone/>
            </a:pPr>
            <a:r>
              <a:rPr lang="en-US" sz="1950" dirty="0">
                <a:solidFill>
                  <a:srgbClr val="FFFFFF"/>
                </a:solidFill>
                <a:highlight>
                  <a:srgbClr val="122F4A"/>
                </a:highlight>
                <a:latin typeface="JetBrains Mono" pitchFamily="34" charset="0"/>
                <a:ea typeface="JetBrains Mono" pitchFamily="34" charset="-122"/>
                <a:cs typeface="JetBrains Mono" pitchFamily="34" charset="-120"/>
              </a:rPr>
              <a:t>EPSG:4326 </a:t>
            </a:r>
            <a:pPr algn="l"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latitude / longitude</a:t>
            </a:r>
            <a:endParaRPr lang="en-US" sz="1950" dirty="0"/>
          </a:p>
        </p:txBody>
      </p:sp>
      <p:sp>
        <p:nvSpPr>
          <p:cNvPr id="5" name="Text 3"/>
          <p:cNvSpPr/>
          <p:nvPr/>
        </p:nvSpPr>
        <p:spPr>
          <a:xfrm>
            <a:off x="558165" y="4081909"/>
            <a:ext cx="8675370" cy="481012"/>
          </a:xfrm>
          <a:prstGeom prst="rect">
            <a:avLst/>
          </a:prstGeom>
          <a:noFill/>
          <a:ln/>
        </p:spPr>
        <p:txBody>
          <a:bodyPr wrap="square" lIns="25400" tIns="25400" rIns="25400" bIns="25400" rtlCol="0" anchor="t">
            <a:normAutofit/>
          </a:bodyPr>
          <a:lstStyle/>
          <a:p>
            <a:pPr algn="ctr" indent="0" marL="0">
              <a:lnSpc>
                <a:spcPct val="117722"/>
              </a:lnSpc>
              <a:buNone/>
            </a:pPr>
            <a:r>
              <a:rPr lang="en-US" sz="2250" dirty="0">
                <a:solidFill>
                  <a:srgbClr val="00D1FF"/>
                </a:solidFill>
                <a:latin typeface="JetBrains Mono" pitchFamily="34" charset="0"/>
                <a:ea typeface="JetBrains Mono" pitchFamily="34" charset="-122"/>
                <a:cs typeface="JetBrains Mono" pitchFamily="34" charset="-120"/>
              </a:rPr>
              <a:t>↓</a:t>
            </a:r>
            <a:endParaRPr lang="en-US" sz="2250" dirty="0"/>
          </a:p>
        </p:txBody>
      </p:sp>
      <p:sp>
        <p:nvSpPr>
          <p:cNvPr id="6" name="Shape 4"/>
          <p:cNvSpPr/>
          <p:nvPr/>
        </p:nvSpPr>
        <p:spPr>
          <a:xfrm>
            <a:off x="952500" y="4620071"/>
            <a:ext cx="7886700" cy="783878"/>
          </a:xfrm>
          <a:prstGeom prst="roundRect">
            <a:avLst>
              <a:gd name="adj" fmla="val 9721"/>
            </a:avLst>
          </a:prstGeom>
          <a:solidFill>
            <a:srgbClr val="1C3F60"/>
          </a:solidFill>
          <a:ln w="9525">
            <a:solidFill>
              <a:srgbClr val="00D1FF"/>
            </a:solidFill>
            <a:prstDash val="solid"/>
          </a:ln>
        </p:spPr>
      </p:sp>
      <p:sp>
        <p:nvSpPr>
          <p:cNvPr id="7" name="Text 5"/>
          <p:cNvSpPr/>
          <p:nvPr/>
        </p:nvSpPr>
        <p:spPr>
          <a:xfrm>
            <a:off x="1209675" y="4820096"/>
            <a:ext cx="7608951" cy="421928"/>
          </a:xfrm>
          <a:prstGeom prst="rect">
            <a:avLst/>
          </a:prstGeom>
          <a:noFill/>
          <a:ln/>
        </p:spPr>
        <p:txBody>
          <a:bodyPr wrap="square" lIns="25400" tIns="25400" rIns="25400" bIns="25400" rtlCol="0" anchor="t">
            <a:normAutofit/>
          </a:bodyPr>
          <a:lstStyle/>
          <a:p>
            <a:pPr algn="l" indent="0" marL="0">
              <a:lnSpc>
                <a:spcPct val="116812"/>
              </a:lnSpc>
              <a:buNone/>
            </a:pPr>
            <a:r>
              <a:rPr lang="en-US" sz="1950" dirty="0">
                <a:solidFill>
                  <a:srgbClr val="FFFFFF"/>
                </a:solidFill>
                <a:highlight>
                  <a:srgbClr val="1C3F60"/>
                </a:highlight>
                <a:latin typeface="JetBrains Mono" pitchFamily="34" charset="0"/>
                <a:ea typeface="JetBrains Mono" pitchFamily="34" charset="-122"/>
                <a:cs typeface="JetBrains Mono" pitchFamily="34" charset="-120"/>
              </a:rPr>
              <a:t>EPSG:3035 </a:t>
            </a:r>
            <a:pPr algn="l"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European equal-area</a:t>
            </a:r>
            <a:endParaRPr lang="en-US" sz="1950" dirty="0"/>
          </a:p>
        </p:txBody>
      </p:sp>
      <p:sp>
        <p:nvSpPr>
          <p:cNvPr id="8" name="Text 6"/>
          <p:cNvSpPr/>
          <p:nvPr/>
        </p:nvSpPr>
        <p:spPr>
          <a:xfrm>
            <a:off x="558165" y="5499199"/>
            <a:ext cx="8675370" cy="481012"/>
          </a:xfrm>
          <a:prstGeom prst="rect">
            <a:avLst/>
          </a:prstGeom>
          <a:noFill/>
          <a:ln/>
        </p:spPr>
        <p:txBody>
          <a:bodyPr wrap="square" lIns="25400" tIns="25400" rIns="25400" bIns="25400" rtlCol="0" anchor="t">
            <a:normAutofit/>
          </a:bodyPr>
          <a:lstStyle/>
          <a:p>
            <a:pPr algn="ctr" indent="0" marL="0">
              <a:lnSpc>
                <a:spcPct val="117722"/>
              </a:lnSpc>
              <a:buNone/>
            </a:pPr>
            <a:r>
              <a:rPr lang="en-US" sz="2250" dirty="0">
                <a:solidFill>
                  <a:srgbClr val="00D1FF"/>
                </a:solidFill>
                <a:latin typeface="JetBrains Mono" pitchFamily="34" charset="0"/>
                <a:ea typeface="JetBrains Mono" pitchFamily="34" charset="-122"/>
                <a:cs typeface="JetBrains Mono" pitchFamily="34" charset="-120"/>
              </a:rPr>
              <a:t>↓</a:t>
            </a:r>
            <a:endParaRPr lang="en-US" sz="2250" dirty="0"/>
          </a:p>
        </p:txBody>
      </p:sp>
      <p:sp>
        <p:nvSpPr>
          <p:cNvPr id="9" name="Shape 7"/>
          <p:cNvSpPr/>
          <p:nvPr/>
        </p:nvSpPr>
        <p:spPr>
          <a:xfrm>
            <a:off x="952500" y="6037362"/>
            <a:ext cx="7886700" cy="783878"/>
          </a:xfrm>
          <a:prstGeom prst="roundRect">
            <a:avLst>
              <a:gd name="adj" fmla="val 9721"/>
            </a:avLst>
          </a:prstGeom>
          <a:solidFill>
            <a:srgbClr val="122F4A"/>
          </a:solidFill>
          <a:ln w="9525">
            <a:solidFill>
              <a:srgbClr val="1F3A5F"/>
            </a:solidFill>
            <a:prstDash val="solid"/>
          </a:ln>
        </p:spPr>
      </p:sp>
      <p:sp>
        <p:nvSpPr>
          <p:cNvPr id="10" name="Text 8"/>
          <p:cNvSpPr/>
          <p:nvPr/>
        </p:nvSpPr>
        <p:spPr>
          <a:xfrm>
            <a:off x="1209675" y="6237387"/>
            <a:ext cx="7608951" cy="421928"/>
          </a:xfrm>
          <a:prstGeom prst="rect">
            <a:avLst/>
          </a:prstGeom>
          <a:noFill/>
          <a:ln/>
        </p:spPr>
        <p:txBody>
          <a:bodyPr wrap="square" lIns="25400" tIns="25400" rIns="25400" bIns="25400" rtlCol="0" anchor="t">
            <a:normAutofit/>
          </a:bodyPr>
          <a:lstStyle/>
          <a:p>
            <a:pPr algn="l" indent="0" marL="0">
              <a:lnSpc>
                <a:spcPct val="116812"/>
              </a:lnSpc>
              <a:buNone/>
            </a:pPr>
            <a:r>
              <a:rPr lang="en-US" sz="1950" dirty="0">
                <a:solidFill>
                  <a:srgbClr val="FFFFFF"/>
                </a:solidFill>
                <a:latin typeface="JetBrains Mono" pitchFamily="34" charset="0"/>
                <a:ea typeface="JetBrains Mono" pitchFamily="34" charset="-122"/>
                <a:cs typeface="JetBrains Mono" pitchFamily="34" charset="-120"/>
              </a:rPr>
              <a:t>area in square metres</a:t>
            </a:r>
            <a:endParaRPr lang="en-US" sz="1950" dirty="0"/>
          </a:p>
        </p:txBody>
      </p:sp>
      <p:sp>
        <p:nvSpPr>
          <p:cNvPr id="11" name="Text 9"/>
          <p:cNvSpPr/>
          <p:nvPr/>
        </p:nvSpPr>
        <p:spPr>
          <a:xfrm>
            <a:off x="558165" y="6916489"/>
            <a:ext cx="8675370" cy="481012"/>
          </a:xfrm>
          <a:prstGeom prst="rect">
            <a:avLst/>
          </a:prstGeom>
          <a:noFill/>
          <a:ln/>
        </p:spPr>
        <p:txBody>
          <a:bodyPr wrap="square" lIns="25400" tIns="25400" rIns="25400" bIns="25400" rtlCol="0" anchor="t">
            <a:normAutofit/>
          </a:bodyPr>
          <a:lstStyle/>
          <a:p>
            <a:pPr algn="ctr" indent="0" marL="0">
              <a:lnSpc>
                <a:spcPct val="117722"/>
              </a:lnSpc>
              <a:buNone/>
            </a:pPr>
            <a:r>
              <a:rPr lang="en-US" sz="2250" dirty="0">
                <a:solidFill>
                  <a:srgbClr val="00D1FF"/>
                </a:solidFill>
                <a:latin typeface="JetBrains Mono" pitchFamily="34" charset="0"/>
                <a:ea typeface="JetBrains Mono" pitchFamily="34" charset="-122"/>
                <a:cs typeface="JetBrains Mono" pitchFamily="34" charset="-120"/>
              </a:rPr>
              <a:t>↓ ÷ 1,000,000</a:t>
            </a:r>
            <a:endParaRPr lang="en-US" sz="2250" dirty="0"/>
          </a:p>
        </p:txBody>
      </p:sp>
      <p:sp>
        <p:nvSpPr>
          <p:cNvPr id="12" name="Shape 10"/>
          <p:cNvSpPr/>
          <p:nvPr/>
        </p:nvSpPr>
        <p:spPr>
          <a:xfrm>
            <a:off x="952500" y="7454652"/>
            <a:ext cx="7886700" cy="783878"/>
          </a:xfrm>
          <a:prstGeom prst="roundRect">
            <a:avLst>
              <a:gd name="adj" fmla="val 9721"/>
            </a:avLst>
          </a:prstGeom>
          <a:solidFill>
            <a:srgbClr val="122F4A"/>
          </a:solidFill>
          <a:ln w="9525">
            <a:solidFill>
              <a:srgbClr val="1F3A5F"/>
            </a:solidFill>
            <a:prstDash val="solid"/>
          </a:ln>
        </p:spPr>
      </p:sp>
      <p:sp>
        <p:nvSpPr>
          <p:cNvPr id="13" name="Text 11"/>
          <p:cNvSpPr/>
          <p:nvPr/>
        </p:nvSpPr>
        <p:spPr>
          <a:xfrm>
            <a:off x="1209675" y="7654677"/>
            <a:ext cx="7608951" cy="421928"/>
          </a:xfrm>
          <a:prstGeom prst="rect">
            <a:avLst/>
          </a:prstGeom>
          <a:noFill/>
          <a:ln/>
        </p:spPr>
        <p:txBody>
          <a:bodyPr wrap="square" lIns="25400" tIns="25400" rIns="25400" bIns="25400" rtlCol="0" anchor="t">
            <a:normAutofit/>
          </a:bodyPr>
          <a:lstStyle/>
          <a:p>
            <a:pPr algn="l" indent="0" marL="0">
              <a:lnSpc>
                <a:spcPct val="116812"/>
              </a:lnSpc>
              <a:buNone/>
            </a:pPr>
            <a:r>
              <a:rPr lang="en-US" sz="1950" dirty="0">
                <a:solidFill>
                  <a:srgbClr val="FFFFFF"/>
                </a:solidFill>
                <a:latin typeface="JetBrains Mono" pitchFamily="34" charset="0"/>
                <a:ea typeface="JetBrains Mono" pitchFamily="34" charset="-122"/>
                <a:cs typeface="JetBrains Mono" pitchFamily="34" charset="-120"/>
              </a:rPr>
              <a:t>km²</a:t>
            </a:r>
            <a:endParaRPr lang="en-US" sz="1950" dirty="0"/>
          </a:p>
        </p:txBody>
      </p:sp>
      <p:sp>
        <p:nvSpPr>
          <p:cNvPr id="14" name="Text 12"/>
          <p:cNvSpPr/>
          <p:nvPr/>
        </p:nvSpPr>
        <p:spPr>
          <a:xfrm>
            <a:off x="9448800" y="3317081"/>
            <a:ext cx="8123301" cy="944761"/>
          </a:xfrm>
          <a:prstGeom prst="rect">
            <a:avLst/>
          </a:prstGeom>
          <a:noFill/>
          <a:ln/>
        </p:spPr>
        <p:txBody>
          <a:bodyPr wrap="square" lIns="25400" tIns="25400" rIns="25400" bIns="25400" rtlCol="0" anchor="t">
            <a:normAutofit/>
          </a:bodyPr>
          <a:lstStyle/>
          <a:p>
            <a:pPr algn="l" indent="0" marL="0">
              <a:lnSpc>
                <a:spcPct val="116098"/>
              </a:lnSpc>
              <a:buNone/>
            </a:pPr>
            <a:r>
              <a:rPr lang="en-US" sz="2550" dirty="0">
                <a:solidFill>
                  <a:srgbClr val="FFFFFF"/>
                </a:solidFill>
                <a:latin typeface="Inter" pitchFamily="34" charset="0"/>
                <a:ea typeface="Inter" pitchFamily="34" charset="-122"/>
                <a:cs typeface="Inter" pitchFamily="34" charset="-120"/>
              </a:rPr>
              <a:t>Latitude and longitude degrees are never used directly as area measurements.</a:t>
            </a:r>
            <a:endParaRPr lang="en-US" sz="2550" dirty="0"/>
          </a:p>
        </p:txBody>
      </p:sp>
      <p:sp>
        <p:nvSpPr>
          <p:cNvPr id="15" name="Text 13"/>
          <p:cNvSpPr/>
          <p:nvPr/>
        </p:nvSpPr>
        <p:spPr>
          <a:xfrm>
            <a:off x="9448800" y="4528542"/>
            <a:ext cx="8123301" cy="1695450"/>
          </a:xfrm>
          <a:prstGeom prst="rect">
            <a:avLst/>
          </a:prstGeom>
          <a:noFill/>
          <a:ln/>
        </p:spPr>
        <p:txBody>
          <a:bodyPr wrap="square" lIns="25400" tIns="25400" rIns="25400" bIns="25400" rtlCol="0" anchor="t">
            <a:normAutofit/>
          </a:bodyPr>
          <a:lstStyle/>
          <a:p>
            <a:pPr algn="l" indent="0" marL="0">
              <a:lnSpc>
                <a:spcPct val="120833"/>
              </a:lnSpc>
              <a:buNone/>
            </a:pPr>
            <a:r>
              <a:rPr lang="en-US" sz="2250" dirty="0">
                <a:solidFill>
                  <a:srgbClr val="AAB8C2"/>
                </a:solidFill>
                <a:latin typeface="Inter" pitchFamily="34" charset="0"/>
                <a:ea typeface="Inter" pitchFamily="34" charset="-122"/>
                <a:cs typeface="Inter" pitchFamily="34" charset="-120"/>
              </a:rPr>
              <a:t>The hotspot comparison is reprojected to the European equal-area CRS EPSG:3035 specifically so that areas measured on different dates and at different latitudes are comparable.</a:t>
            </a:r>
            <a:endParaRPr lang="en-US" sz="2250" dirty="0"/>
          </a:p>
        </p:txBody>
      </p:sp>
      <p:sp>
        <p:nvSpPr>
          <p:cNvPr id="16" name="Text 14"/>
          <p:cNvSpPr/>
          <p:nvPr/>
        </p:nvSpPr>
        <p:spPr>
          <a:xfrm>
            <a:off x="952500" y="9646965"/>
            <a:ext cx="18021300"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Copyright Walker Rowe, Hypatia Academy Cyprus 2026</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952500" y="1722313"/>
            <a:ext cx="18021300" cy="678135"/>
          </a:xfrm>
          <a:prstGeom prst="rect">
            <a:avLst/>
          </a:prstGeom>
          <a:noFill/>
          <a:ln/>
        </p:spPr>
        <p:txBody>
          <a:bodyPr wrap="square" lIns="25400" tIns="25400" rIns="25400" bIns="25400" rtlCol="0" anchor="t">
            <a:normAutofit/>
          </a:bodyPr>
          <a:lstStyle/>
          <a:p>
            <a:pPr algn="l" indent="0" marL="0">
              <a:lnSpc>
                <a:spcPct val="69637"/>
              </a:lnSpc>
              <a:buNone/>
            </a:pPr>
            <a:r>
              <a:rPr lang="en-US" sz="4800" spc="24" kern="0" dirty="0">
                <a:solidFill>
                  <a:srgbClr val="FFFFFF"/>
                </a:solidFill>
                <a:latin typeface="Anton" pitchFamily="34" charset="0"/>
                <a:ea typeface="Anton" pitchFamily="34" charset="-122"/>
                <a:cs typeface="Anton" pitchFamily="34" charset="-120"/>
              </a:rPr>
              <a:t>THE 15 × 15 KM WINDOW IS NOT THE MEASURED AREA</a:t>
            </a:r>
            <a:endParaRPr lang="en-US" sz="4800" dirty="0"/>
          </a:p>
        </p:txBody>
      </p:sp>
      <p:sp>
        <p:nvSpPr>
          <p:cNvPr id="3" name="Shape 1"/>
          <p:cNvSpPr/>
          <p:nvPr/>
        </p:nvSpPr>
        <p:spPr>
          <a:xfrm>
            <a:off x="952500" y="3104331"/>
            <a:ext cx="7981950" cy="5156374"/>
          </a:xfrm>
          <a:prstGeom prst="roundRect">
            <a:avLst>
              <a:gd name="adj" fmla="val 1478"/>
            </a:avLst>
          </a:prstGeom>
          <a:solidFill>
            <a:srgbClr val="122F4A"/>
          </a:solidFill>
          <a:ln w="9525">
            <a:solidFill>
              <a:srgbClr val="1F3A5F"/>
            </a:solidFill>
            <a:prstDash val="solid"/>
          </a:ln>
        </p:spPr>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3104331"/>
            <a:ext cx="7981950" cy="5156374"/>
          </a:xfrm>
          <a:prstGeom prst="rect">
            <a:avLst/>
          </a:prstGeom>
        </p:spPr>
      </p:pic>
      <p:sp>
        <p:nvSpPr>
          <p:cNvPr id="5" name="Shape 2"/>
          <p:cNvSpPr/>
          <p:nvPr/>
        </p:nvSpPr>
        <p:spPr>
          <a:xfrm>
            <a:off x="9372600" y="2705249"/>
            <a:ext cx="7962900" cy="851520"/>
          </a:xfrm>
          <a:prstGeom prst="roundRect">
            <a:avLst>
              <a:gd name="adj" fmla="val 8949"/>
            </a:avLst>
          </a:prstGeom>
          <a:solidFill>
            <a:srgbClr val="122F4A"/>
          </a:solidFill>
          <a:ln w="9525">
            <a:solidFill>
              <a:srgbClr val="1F3A5F"/>
            </a:solidFill>
            <a:prstDash val="solid"/>
          </a:ln>
        </p:spPr>
      </p:sp>
      <p:sp>
        <p:nvSpPr>
          <p:cNvPr id="6" name="Text 3"/>
          <p:cNvSpPr/>
          <p:nvPr/>
        </p:nvSpPr>
        <p:spPr>
          <a:xfrm>
            <a:off x="9629775" y="2924324"/>
            <a:ext cx="7687437" cy="451470"/>
          </a:xfrm>
          <a:prstGeom prst="rect">
            <a:avLst/>
          </a:prstGeom>
          <a:noFill/>
          <a:ln/>
        </p:spPr>
        <p:txBody>
          <a:bodyPr wrap="square" lIns="25400" tIns="25400" rIns="25400" bIns="25400" rtlCol="0" anchor="t">
            <a:normAutofit/>
          </a:bodyPr>
          <a:lstStyle/>
          <a:p>
            <a:pPr algn="l" indent="0" marL="0">
              <a:lnSpc>
                <a:spcPct val="117297"/>
              </a:lnSpc>
              <a:buNone/>
            </a:pPr>
            <a:r>
              <a:rPr lang="en-US" sz="2100" dirty="0">
                <a:solidFill>
                  <a:srgbClr val="FFFFFF"/>
                </a:solidFill>
                <a:latin typeface="JetBrains Mono" pitchFamily="34" charset="0"/>
                <a:ea typeface="JetBrains Mono" pitchFamily="34" charset="-122"/>
                <a:cs typeface="JetBrains Mono" pitchFamily="34" charset="-120"/>
              </a:rPr>
              <a:t>changed_m2 = gain.intersection(candidate).area</a:t>
            </a:r>
            <a:endParaRPr lang="en-US" sz="2100" dirty="0"/>
          </a:p>
        </p:txBody>
      </p:sp>
      <p:sp>
        <p:nvSpPr>
          <p:cNvPr id="7" name="Shape 4"/>
          <p:cNvSpPr/>
          <p:nvPr/>
        </p:nvSpPr>
        <p:spPr>
          <a:xfrm>
            <a:off x="9372600" y="3804419"/>
            <a:ext cx="3886200" cy="1470571"/>
          </a:xfrm>
          <a:prstGeom prst="roundRect">
            <a:avLst>
              <a:gd name="adj" fmla="val 5182"/>
            </a:avLst>
          </a:prstGeom>
          <a:solidFill>
            <a:srgbClr val="122F4A"/>
          </a:solidFill>
          <a:ln w="9525">
            <a:solidFill>
              <a:srgbClr val="1F3A5F"/>
            </a:solidFill>
            <a:prstDash val="solid"/>
          </a:ln>
        </p:spPr>
      </p:sp>
      <p:sp>
        <p:nvSpPr>
          <p:cNvPr id="8" name="Text 5"/>
          <p:cNvSpPr/>
          <p:nvPr/>
        </p:nvSpPr>
        <p:spPr>
          <a:xfrm>
            <a:off x="9610725" y="4042544"/>
            <a:ext cx="3750945"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WINDOW AREA</a:t>
            </a:r>
            <a:endParaRPr lang="en-US" sz="1800" dirty="0"/>
          </a:p>
        </p:txBody>
      </p:sp>
      <p:sp>
        <p:nvSpPr>
          <p:cNvPr id="9" name="Text 6"/>
          <p:cNvSpPr/>
          <p:nvPr/>
        </p:nvSpPr>
        <p:spPr>
          <a:xfrm>
            <a:off x="9610725" y="4396829"/>
            <a:ext cx="3750945" cy="678135"/>
          </a:xfrm>
          <a:prstGeom prst="rect">
            <a:avLst/>
          </a:prstGeom>
          <a:noFill/>
          <a:ln/>
        </p:spPr>
        <p:txBody>
          <a:bodyPr wrap="square" lIns="25400" tIns="25400" rIns="25400" bIns="25400" rtlCol="0" anchor="t">
            <a:normAutofit/>
          </a:bodyPr>
          <a:lstStyle/>
          <a:p>
            <a:pPr algn="l" indent="0" marL="0">
              <a:lnSpc>
                <a:spcPct val="79527"/>
              </a:lnSpc>
              <a:buNone/>
            </a:pPr>
            <a:r>
              <a:rPr lang="en-US" sz="4200" dirty="0">
                <a:solidFill>
                  <a:srgbClr val="AAB8C2"/>
                </a:solidFill>
                <a:latin typeface="Anton" pitchFamily="34" charset="0"/>
                <a:ea typeface="Anton" pitchFamily="34" charset="-122"/>
                <a:cs typeface="Anton" pitchFamily="34" charset="-120"/>
              </a:rPr>
              <a:t>225 km²</a:t>
            </a:r>
            <a:endParaRPr lang="en-US" sz="4200" dirty="0"/>
          </a:p>
        </p:txBody>
      </p:sp>
      <p:sp>
        <p:nvSpPr>
          <p:cNvPr id="10" name="Shape 7"/>
          <p:cNvSpPr/>
          <p:nvPr/>
        </p:nvSpPr>
        <p:spPr>
          <a:xfrm>
            <a:off x="13449300" y="3804419"/>
            <a:ext cx="3886200" cy="1470571"/>
          </a:xfrm>
          <a:prstGeom prst="roundRect">
            <a:avLst>
              <a:gd name="adj" fmla="val 5182"/>
            </a:avLst>
          </a:prstGeom>
          <a:solidFill>
            <a:srgbClr val="1C3F60"/>
          </a:solidFill>
          <a:ln w="9525">
            <a:solidFill>
              <a:srgbClr val="00D1FF"/>
            </a:solidFill>
            <a:prstDash val="solid"/>
          </a:ln>
        </p:spPr>
      </p:sp>
      <p:sp>
        <p:nvSpPr>
          <p:cNvPr id="11" name="Text 8"/>
          <p:cNvSpPr/>
          <p:nvPr/>
        </p:nvSpPr>
        <p:spPr>
          <a:xfrm>
            <a:off x="13687425" y="4042544"/>
            <a:ext cx="3750945"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00D1FF"/>
                </a:solidFill>
                <a:latin typeface="JetBrains Mono" pitchFamily="34" charset="0"/>
                <a:ea typeface="JetBrains Mono" pitchFamily="34" charset="-122"/>
                <a:cs typeface="JetBrains Mono" pitchFamily="34" charset="-120"/>
              </a:rPr>
              <a:t>GAIN INSIDE IT</a:t>
            </a:r>
            <a:endParaRPr lang="en-US" sz="1800" dirty="0"/>
          </a:p>
        </p:txBody>
      </p:sp>
      <p:sp>
        <p:nvSpPr>
          <p:cNvPr id="12" name="Text 9"/>
          <p:cNvSpPr/>
          <p:nvPr/>
        </p:nvSpPr>
        <p:spPr>
          <a:xfrm>
            <a:off x="13687425" y="4396829"/>
            <a:ext cx="3750945" cy="678135"/>
          </a:xfrm>
          <a:prstGeom prst="rect">
            <a:avLst/>
          </a:prstGeom>
          <a:noFill/>
          <a:ln/>
        </p:spPr>
        <p:txBody>
          <a:bodyPr wrap="square" lIns="25400" tIns="25400" rIns="25400" bIns="25400" rtlCol="0" anchor="t">
            <a:normAutofit/>
          </a:bodyPr>
          <a:lstStyle/>
          <a:p>
            <a:pPr algn="l" indent="0" marL="0">
              <a:lnSpc>
                <a:spcPct val="79527"/>
              </a:lnSpc>
              <a:buNone/>
            </a:pPr>
            <a:r>
              <a:rPr lang="en-US" sz="4200" dirty="0">
                <a:solidFill>
                  <a:srgbClr val="00D1FF"/>
                </a:solidFill>
                <a:latin typeface="Anton" pitchFamily="34" charset="0"/>
                <a:ea typeface="Anton" pitchFamily="34" charset="-122"/>
                <a:cs typeface="Anton" pitchFamily="34" charset="-120"/>
              </a:rPr>
              <a:t>39.72 km²</a:t>
            </a:r>
            <a:endParaRPr lang="en-US" sz="4200" dirty="0"/>
          </a:p>
        </p:txBody>
      </p:sp>
      <p:sp>
        <p:nvSpPr>
          <p:cNvPr id="13" name="Shape 10"/>
          <p:cNvSpPr/>
          <p:nvPr/>
        </p:nvSpPr>
        <p:spPr>
          <a:xfrm>
            <a:off x="9372600" y="5522640"/>
            <a:ext cx="7962900" cy="9525"/>
          </a:xfrm>
          <a:prstGeom prst="rect">
            <a:avLst/>
          </a:prstGeom>
          <a:solidFill>
            <a:srgbClr val="1F3A5F"/>
          </a:solidFill>
          <a:ln/>
        </p:spPr>
      </p:sp>
      <p:sp>
        <p:nvSpPr>
          <p:cNvPr id="14" name="Text 11"/>
          <p:cNvSpPr/>
          <p:nvPr/>
        </p:nvSpPr>
        <p:spPr>
          <a:xfrm>
            <a:off x="9372600" y="5741715"/>
            <a:ext cx="8201787" cy="1272406"/>
          </a:xfrm>
          <a:prstGeom prst="rect">
            <a:avLst/>
          </a:prstGeom>
          <a:noFill/>
          <a:ln/>
        </p:spPr>
        <p:txBody>
          <a:bodyPr wrap="square" lIns="25400" tIns="25400" rIns="25400" bIns="25400" rtlCol="0" anchor="t">
            <a:normAutofit/>
          </a:bodyPr>
          <a:lstStyle/>
          <a:p>
            <a:pPr algn="l" indent="0" marL="0">
              <a:lnSpc>
                <a:spcPct val="137143"/>
              </a:lnSpc>
              <a:buNone/>
            </a:pPr>
            <a:r>
              <a:rPr lang="en-US" sz="1800" dirty="0">
                <a:solidFill>
                  <a:srgbClr val="AAB8C2"/>
                </a:solidFill>
                <a:latin typeface="JetBrains Mono" pitchFamily="34" charset="0"/>
                <a:ea typeface="JetBrains Mono" pitchFamily="34" charset="-122"/>
                <a:cs typeface="JetBrains Mono" pitchFamily="34" charset="-120"/>
              </a:rPr>
              <a:t>HOTSPOT_WINDOW_KM = 15 HOTSPOT_STRIDE_KM = 5 MIN_GAIN_KM2 = 0.01</a:t>
            </a:r>
            <a:endParaRPr lang="en-US" sz="1800" dirty="0"/>
          </a:p>
        </p:txBody>
      </p:sp>
      <p:sp>
        <p:nvSpPr>
          <p:cNvPr id="15" name="Text 12"/>
          <p:cNvSpPr/>
          <p:nvPr/>
        </p:nvSpPr>
        <p:spPr>
          <a:xfrm>
            <a:off x="9372600" y="7223671"/>
            <a:ext cx="8201787" cy="1474291"/>
          </a:xfrm>
          <a:prstGeom prst="rect">
            <a:avLst/>
          </a:prstGeom>
          <a:noFill/>
          <a:ln/>
        </p:spPr>
        <p:txBody>
          <a:bodyPr wrap="square" lIns="25400" tIns="25400" rIns="25400" bIns="25400" rtlCol="0" anchor="t">
            <a:normAutofit/>
          </a:bodyPr>
          <a:lstStyle/>
          <a:p>
            <a:pPr algn="l" indent="0" marL="0">
              <a:lnSpc>
                <a:spcPct val="119683"/>
              </a:lnSpc>
              <a:buNone/>
            </a:pPr>
            <a:r>
              <a:rPr lang="en-US" sz="1950" dirty="0">
                <a:solidFill>
                  <a:srgbClr val="AAB8C2"/>
                </a:solidFill>
                <a:latin typeface="Inter" pitchFamily="34" charset="0"/>
                <a:ea typeface="Inter" pitchFamily="34" charset="-122"/>
                <a:cs typeface="Inter" pitchFamily="34" charset="-120"/>
              </a:rPr>
              <a:t>The DeepState source polygons are irregular. Transition geometries are calculated first; only then do overlapping 225 km² frames slide in 5 km steps to find the strongest concentration. The square is a search frame, never the measured area.</a:t>
            </a:r>
            <a:endParaRPr lang="en-US" sz="1950" dirty="0"/>
          </a:p>
        </p:txBody>
      </p:sp>
      <p:sp>
        <p:nvSpPr>
          <p:cNvPr id="16" name="Text 13"/>
          <p:cNvSpPr/>
          <p:nvPr/>
        </p:nvSpPr>
        <p:spPr>
          <a:xfrm>
            <a:off x="952500" y="9646965"/>
            <a:ext cx="18021300"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Copyright Walker Rowe, Hypatia Academy Cyprus 2026</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952500" y="1998538"/>
            <a:ext cx="18021300" cy="678135"/>
          </a:xfrm>
          <a:prstGeom prst="rect">
            <a:avLst/>
          </a:prstGeom>
          <a:noFill/>
          <a:ln/>
        </p:spPr>
        <p:txBody>
          <a:bodyPr wrap="square" lIns="25400" tIns="25400" rIns="25400" bIns="25400" rtlCol="0" anchor="t">
            <a:normAutofit/>
          </a:bodyPr>
          <a:lstStyle/>
          <a:p>
            <a:pPr algn="l" indent="0" marL="0">
              <a:lnSpc>
                <a:spcPct val="69637"/>
              </a:lnSpc>
              <a:buNone/>
            </a:pPr>
            <a:r>
              <a:rPr lang="en-US" sz="4800" spc="24" kern="0" dirty="0">
                <a:solidFill>
                  <a:srgbClr val="FFFFFF"/>
                </a:solidFill>
                <a:latin typeface="Anton" pitchFamily="34" charset="0"/>
                <a:ea typeface="Anton" pitchFamily="34" charset="-122"/>
                <a:cs typeface="Anton" pitchFamily="34" charset="-120"/>
              </a:rPr>
              <a:t>CATEGORY TOTALS ARE NOT TRANSITIONS</a:t>
            </a:r>
            <a:endParaRPr lang="en-US" sz="4800" dirty="0"/>
          </a:p>
        </p:txBody>
      </p:sp>
      <p:sp>
        <p:nvSpPr>
          <p:cNvPr id="3" name="Shape 1"/>
          <p:cNvSpPr/>
          <p:nvPr/>
        </p:nvSpPr>
        <p:spPr>
          <a:xfrm>
            <a:off x="952500" y="3559597"/>
            <a:ext cx="4226198" cy="9525"/>
          </a:xfrm>
          <a:prstGeom prst="rect">
            <a:avLst/>
          </a:prstGeom>
          <a:solidFill>
            <a:srgbClr val="1F3A5F"/>
          </a:solidFill>
          <a:ln/>
        </p:spPr>
      </p:sp>
      <p:sp>
        <p:nvSpPr>
          <p:cNvPr id="4" name="Text 2"/>
          <p:cNvSpPr/>
          <p:nvPr/>
        </p:nvSpPr>
        <p:spPr>
          <a:xfrm>
            <a:off x="952500" y="3095774"/>
            <a:ext cx="4352984" cy="387623"/>
          </a:xfrm>
          <a:prstGeom prst="rect">
            <a:avLst/>
          </a:prstGeom>
          <a:noFill/>
          <a:ln/>
        </p:spPr>
        <p:txBody>
          <a:bodyPr wrap="square" lIns="25400" tIns="25400" rIns="25400" bIns="25400" rtlCol="0" anchor="ctr">
            <a:normAutofit/>
          </a:bodyPr>
          <a:lstStyle/>
          <a:p>
            <a:pPr algn="l"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LAYER</a:t>
            </a:r>
            <a:endParaRPr lang="en-US" sz="1800" dirty="0"/>
          </a:p>
        </p:txBody>
      </p:sp>
      <p:sp>
        <p:nvSpPr>
          <p:cNvPr id="5" name="Shape 3"/>
          <p:cNvSpPr/>
          <p:nvPr/>
        </p:nvSpPr>
        <p:spPr>
          <a:xfrm>
            <a:off x="5178698" y="3559597"/>
            <a:ext cx="1065386" cy="9525"/>
          </a:xfrm>
          <a:prstGeom prst="rect">
            <a:avLst/>
          </a:prstGeom>
          <a:solidFill>
            <a:srgbClr val="1F3A5F"/>
          </a:solidFill>
          <a:ln/>
        </p:spPr>
      </p:sp>
      <p:sp>
        <p:nvSpPr>
          <p:cNvPr id="6" name="Text 4"/>
          <p:cNvSpPr/>
          <p:nvPr/>
        </p:nvSpPr>
        <p:spPr>
          <a:xfrm>
            <a:off x="5102498" y="3095774"/>
            <a:ext cx="1141586" cy="387623"/>
          </a:xfrm>
          <a:prstGeom prst="rect">
            <a:avLst/>
          </a:prstGeom>
          <a:noFill/>
          <a:ln/>
        </p:spPr>
        <p:txBody>
          <a:bodyPr wrap="square" lIns="25400" tIns="25400" rIns="25400" bIns="25400" rtlCol="0" anchor="ctr">
            <a:normAutofit/>
          </a:bodyPr>
          <a:lstStyle/>
          <a:p>
            <a:pPr algn="r"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AUG 4</a:t>
            </a:r>
            <a:endParaRPr lang="en-US" sz="1800" dirty="0"/>
          </a:p>
        </p:txBody>
      </p:sp>
      <p:sp>
        <p:nvSpPr>
          <p:cNvPr id="7" name="Shape 5"/>
          <p:cNvSpPr/>
          <p:nvPr/>
        </p:nvSpPr>
        <p:spPr>
          <a:xfrm>
            <a:off x="6244084" y="3559597"/>
            <a:ext cx="1278582" cy="9525"/>
          </a:xfrm>
          <a:prstGeom prst="rect">
            <a:avLst/>
          </a:prstGeom>
          <a:solidFill>
            <a:srgbClr val="1F3A5F"/>
          </a:solidFill>
          <a:ln/>
        </p:spPr>
      </p:sp>
      <p:sp>
        <p:nvSpPr>
          <p:cNvPr id="8" name="Text 6"/>
          <p:cNvSpPr/>
          <p:nvPr/>
        </p:nvSpPr>
        <p:spPr>
          <a:xfrm>
            <a:off x="6167884" y="3095774"/>
            <a:ext cx="1354782" cy="387623"/>
          </a:xfrm>
          <a:prstGeom prst="rect">
            <a:avLst/>
          </a:prstGeom>
          <a:noFill/>
          <a:ln/>
        </p:spPr>
        <p:txBody>
          <a:bodyPr wrap="square" lIns="25400" tIns="25400" rIns="25400" bIns="25400" rtlCol="0" anchor="ctr">
            <a:normAutofit/>
          </a:bodyPr>
          <a:lstStyle/>
          <a:p>
            <a:pPr algn="r"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AUG 13</a:t>
            </a:r>
            <a:endParaRPr lang="en-US" sz="1800" dirty="0"/>
          </a:p>
        </p:txBody>
      </p:sp>
      <p:sp>
        <p:nvSpPr>
          <p:cNvPr id="9" name="Shape 7"/>
          <p:cNvSpPr/>
          <p:nvPr/>
        </p:nvSpPr>
        <p:spPr>
          <a:xfrm>
            <a:off x="7522666" y="3559597"/>
            <a:ext cx="994544" cy="9525"/>
          </a:xfrm>
          <a:prstGeom prst="rect">
            <a:avLst/>
          </a:prstGeom>
          <a:solidFill>
            <a:srgbClr val="1F3A5F"/>
          </a:solidFill>
          <a:ln/>
        </p:spPr>
      </p:sp>
      <p:sp>
        <p:nvSpPr>
          <p:cNvPr id="10" name="Text 8"/>
          <p:cNvSpPr/>
          <p:nvPr/>
        </p:nvSpPr>
        <p:spPr>
          <a:xfrm>
            <a:off x="7446466" y="3095774"/>
            <a:ext cx="1070744" cy="387623"/>
          </a:xfrm>
          <a:prstGeom prst="rect">
            <a:avLst/>
          </a:prstGeom>
          <a:noFill/>
          <a:ln/>
        </p:spPr>
        <p:txBody>
          <a:bodyPr wrap="square" lIns="25400" tIns="25400" rIns="25400" bIns="25400" rtlCol="0" anchor="ctr">
            <a:normAutofit/>
          </a:bodyPr>
          <a:lstStyle/>
          <a:p>
            <a:pPr algn="r"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DIFF</a:t>
            </a:r>
            <a:endParaRPr lang="en-US" sz="1800" dirty="0"/>
          </a:p>
        </p:txBody>
      </p:sp>
      <p:sp>
        <p:nvSpPr>
          <p:cNvPr id="11" name="Text 9"/>
          <p:cNvSpPr/>
          <p:nvPr/>
        </p:nvSpPr>
        <p:spPr>
          <a:xfrm>
            <a:off x="952500" y="3740572"/>
            <a:ext cx="4352984" cy="456233"/>
          </a:xfrm>
          <a:prstGeom prst="rect">
            <a:avLst/>
          </a:prstGeom>
          <a:noFill/>
          <a:ln/>
        </p:spPr>
        <p:txBody>
          <a:bodyPr wrap="square" lIns="25400" tIns="25400" rIns="25400" bIns="25400" rtlCol="0" anchor="ctr">
            <a:normAutofit/>
          </a:bodyPr>
          <a:lstStyle/>
          <a:p>
            <a:pPr algn="l" indent="0" marL="0">
              <a:lnSpc>
                <a:spcPct val="117297"/>
              </a:lnSpc>
              <a:buNone/>
            </a:pPr>
            <a:r>
              <a:rPr lang="en-US" sz="2100" dirty="0">
                <a:solidFill>
                  <a:srgbClr val="00D1FF"/>
                </a:solidFill>
                <a:latin typeface="JetBrains Mono" pitchFamily="34" charset="0"/>
                <a:ea typeface="JetBrains Mono" pitchFamily="34" charset="-122"/>
                <a:cs typeface="JetBrains Mono" pitchFamily="34" charset="-120"/>
              </a:rPr>
              <a:t>Liberated</a:t>
            </a:r>
            <a:endParaRPr lang="en-US" sz="2100" dirty="0"/>
          </a:p>
        </p:txBody>
      </p:sp>
      <p:sp>
        <p:nvSpPr>
          <p:cNvPr id="12" name="Text 10"/>
          <p:cNvSpPr/>
          <p:nvPr/>
        </p:nvSpPr>
        <p:spPr>
          <a:xfrm>
            <a:off x="5102498" y="3740572"/>
            <a:ext cx="1141586" cy="456233"/>
          </a:xfrm>
          <a:prstGeom prst="rect">
            <a:avLst/>
          </a:prstGeom>
          <a:noFill/>
          <a:ln/>
        </p:spPr>
        <p:txBody>
          <a:bodyPr wrap="square" lIns="25400" tIns="25400" rIns="25400" bIns="25400" rtlCol="0" anchor="ctr">
            <a:normAutofit/>
          </a:bodyPr>
          <a:lstStyle/>
          <a:p>
            <a:pPr algn="r" indent="0" marL="0">
              <a:lnSpc>
                <a:spcPct val="117297"/>
              </a:lnSpc>
              <a:buNone/>
            </a:pPr>
            <a:r>
              <a:rPr lang="en-US" sz="2100" dirty="0">
                <a:solidFill>
                  <a:srgbClr val="FFFFFF"/>
                </a:solidFill>
                <a:latin typeface="JetBrains Mono" pitchFamily="34" charset="0"/>
                <a:ea typeface="JetBrains Mono" pitchFamily="34" charset="-122"/>
                <a:cs typeface="JetBrains Mono" pitchFamily="34" charset="-120"/>
              </a:rPr>
              <a:t>7</a:t>
            </a:r>
            <a:endParaRPr lang="en-US" sz="2100" dirty="0"/>
          </a:p>
        </p:txBody>
      </p:sp>
      <p:sp>
        <p:nvSpPr>
          <p:cNvPr id="13" name="Text 11"/>
          <p:cNvSpPr/>
          <p:nvPr/>
        </p:nvSpPr>
        <p:spPr>
          <a:xfrm>
            <a:off x="6167884" y="3740572"/>
            <a:ext cx="1354782" cy="456233"/>
          </a:xfrm>
          <a:prstGeom prst="rect">
            <a:avLst/>
          </a:prstGeom>
          <a:noFill/>
          <a:ln/>
        </p:spPr>
        <p:txBody>
          <a:bodyPr wrap="square" lIns="25400" tIns="25400" rIns="25400" bIns="25400" rtlCol="0" anchor="ctr">
            <a:normAutofit/>
          </a:bodyPr>
          <a:lstStyle/>
          <a:p>
            <a:pPr algn="r" indent="0" marL="0">
              <a:lnSpc>
                <a:spcPct val="117297"/>
              </a:lnSpc>
              <a:buNone/>
            </a:pPr>
            <a:r>
              <a:rPr lang="en-US" sz="2100" dirty="0">
                <a:solidFill>
                  <a:srgbClr val="FFFFFF"/>
                </a:solidFill>
                <a:latin typeface="JetBrains Mono" pitchFamily="34" charset="0"/>
                <a:ea typeface="JetBrains Mono" pitchFamily="34" charset="-122"/>
                <a:cs typeface="JetBrains Mono" pitchFamily="34" charset="-120"/>
              </a:rPr>
              <a:t>127</a:t>
            </a:r>
            <a:endParaRPr lang="en-US" sz="2100" dirty="0"/>
          </a:p>
        </p:txBody>
      </p:sp>
      <p:sp>
        <p:nvSpPr>
          <p:cNvPr id="14" name="Text 12"/>
          <p:cNvSpPr/>
          <p:nvPr/>
        </p:nvSpPr>
        <p:spPr>
          <a:xfrm>
            <a:off x="7446466" y="3740572"/>
            <a:ext cx="1070744" cy="456233"/>
          </a:xfrm>
          <a:prstGeom prst="rect">
            <a:avLst/>
          </a:prstGeom>
          <a:noFill/>
          <a:ln/>
        </p:spPr>
        <p:txBody>
          <a:bodyPr wrap="square" lIns="25400" tIns="25400" rIns="25400" bIns="25400" rtlCol="0" anchor="ctr">
            <a:normAutofit/>
          </a:bodyPr>
          <a:lstStyle/>
          <a:p>
            <a:pPr algn="r" indent="0" marL="0">
              <a:lnSpc>
                <a:spcPct val="117297"/>
              </a:lnSpc>
              <a:buNone/>
            </a:pPr>
            <a:r>
              <a:rPr lang="en-US" sz="2100" dirty="0">
                <a:solidFill>
                  <a:srgbClr val="00D1FF"/>
                </a:solidFill>
                <a:latin typeface="JetBrains Mono" pitchFamily="34" charset="0"/>
                <a:ea typeface="JetBrains Mono" pitchFamily="34" charset="-122"/>
                <a:cs typeface="JetBrains Mono" pitchFamily="34" charset="-120"/>
              </a:rPr>
              <a:t>+120</a:t>
            </a:r>
            <a:endParaRPr lang="en-US" sz="2100" dirty="0"/>
          </a:p>
        </p:txBody>
      </p:sp>
      <p:sp>
        <p:nvSpPr>
          <p:cNvPr id="15" name="Text 13"/>
          <p:cNvSpPr/>
          <p:nvPr/>
        </p:nvSpPr>
        <p:spPr>
          <a:xfrm>
            <a:off x="952500" y="4501604"/>
            <a:ext cx="4352984" cy="451470"/>
          </a:xfrm>
          <a:prstGeom prst="rect">
            <a:avLst/>
          </a:prstGeom>
          <a:noFill/>
          <a:ln/>
        </p:spPr>
        <p:txBody>
          <a:bodyPr wrap="square" lIns="25400" tIns="25400" rIns="25400" bIns="25400" rtlCol="0" anchor="ctr">
            <a:normAutofit/>
          </a:bodyPr>
          <a:lstStyle/>
          <a:p>
            <a:pPr algn="l" indent="0" marL="0">
              <a:lnSpc>
                <a:spcPct val="117297"/>
              </a:lnSpc>
              <a:buNone/>
            </a:pPr>
            <a:r>
              <a:rPr lang="en-US" sz="2100" dirty="0">
                <a:solidFill>
                  <a:srgbClr val="FF7A00"/>
                </a:solidFill>
                <a:latin typeface="JetBrains Mono" pitchFamily="34" charset="0"/>
                <a:ea typeface="JetBrains Mono" pitchFamily="34" charset="-122"/>
                <a:cs typeface="JetBrains Mono" pitchFamily="34" charset="-120"/>
              </a:rPr>
              <a:t>Occupied</a:t>
            </a:r>
            <a:endParaRPr lang="en-US" sz="2100" dirty="0"/>
          </a:p>
        </p:txBody>
      </p:sp>
      <p:sp>
        <p:nvSpPr>
          <p:cNvPr id="16" name="Text 14"/>
          <p:cNvSpPr/>
          <p:nvPr/>
        </p:nvSpPr>
        <p:spPr>
          <a:xfrm>
            <a:off x="5102498" y="4501604"/>
            <a:ext cx="1141586" cy="451470"/>
          </a:xfrm>
          <a:prstGeom prst="rect">
            <a:avLst/>
          </a:prstGeom>
          <a:noFill/>
          <a:ln/>
        </p:spPr>
        <p:txBody>
          <a:bodyPr wrap="square" lIns="25400" tIns="25400" rIns="25400" bIns="25400" rtlCol="0" anchor="ctr">
            <a:normAutofit/>
          </a:bodyPr>
          <a:lstStyle/>
          <a:p>
            <a:pPr algn="r" indent="0" marL="0">
              <a:lnSpc>
                <a:spcPct val="117297"/>
              </a:lnSpc>
              <a:buNone/>
            </a:pPr>
            <a:r>
              <a:rPr lang="en-US" sz="2100" dirty="0">
                <a:solidFill>
                  <a:srgbClr val="FFFFFF"/>
                </a:solidFill>
                <a:latin typeface="JetBrains Mono" pitchFamily="34" charset="0"/>
                <a:ea typeface="JetBrains Mono" pitchFamily="34" charset="-122"/>
                <a:cs typeface="JetBrains Mono" pitchFamily="34" charset="-120"/>
              </a:rPr>
              <a:t>171</a:t>
            </a:r>
            <a:endParaRPr lang="en-US" sz="2100" dirty="0"/>
          </a:p>
        </p:txBody>
      </p:sp>
      <p:sp>
        <p:nvSpPr>
          <p:cNvPr id="17" name="Text 15"/>
          <p:cNvSpPr/>
          <p:nvPr/>
        </p:nvSpPr>
        <p:spPr>
          <a:xfrm>
            <a:off x="6167884" y="4501604"/>
            <a:ext cx="1354782" cy="451470"/>
          </a:xfrm>
          <a:prstGeom prst="rect">
            <a:avLst/>
          </a:prstGeom>
          <a:noFill/>
          <a:ln/>
        </p:spPr>
        <p:txBody>
          <a:bodyPr wrap="square" lIns="25400" tIns="25400" rIns="25400" bIns="25400" rtlCol="0" anchor="ctr">
            <a:normAutofit/>
          </a:bodyPr>
          <a:lstStyle/>
          <a:p>
            <a:pPr algn="r" indent="0" marL="0">
              <a:lnSpc>
                <a:spcPct val="117297"/>
              </a:lnSpc>
              <a:buNone/>
            </a:pPr>
            <a:r>
              <a:rPr lang="en-US" sz="2100" dirty="0">
                <a:solidFill>
                  <a:srgbClr val="FFFFFF"/>
                </a:solidFill>
                <a:latin typeface="JetBrains Mono" pitchFamily="34" charset="0"/>
                <a:ea typeface="JetBrains Mono" pitchFamily="34" charset="-122"/>
                <a:cs typeface="JetBrains Mono" pitchFamily="34" charset="-120"/>
              </a:rPr>
              <a:t>97</a:t>
            </a:r>
            <a:endParaRPr lang="en-US" sz="2100" dirty="0"/>
          </a:p>
        </p:txBody>
      </p:sp>
      <p:sp>
        <p:nvSpPr>
          <p:cNvPr id="18" name="Text 16"/>
          <p:cNvSpPr/>
          <p:nvPr/>
        </p:nvSpPr>
        <p:spPr>
          <a:xfrm>
            <a:off x="7446466" y="4501604"/>
            <a:ext cx="1070744" cy="451470"/>
          </a:xfrm>
          <a:prstGeom prst="rect">
            <a:avLst/>
          </a:prstGeom>
          <a:noFill/>
          <a:ln/>
        </p:spPr>
        <p:txBody>
          <a:bodyPr wrap="square" lIns="25400" tIns="25400" rIns="25400" bIns="25400" rtlCol="0" anchor="ctr">
            <a:normAutofit/>
          </a:bodyPr>
          <a:lstStyle/>
          <a:p>
            <a:pPr algn="r" indent="0" marL="0">
              <a:lnSpc>
                <a:spcPct val="117297"/>
              </a:lnSpc>
              <a:buNone/>
            </a:pPr>
            <a:r>
              <a:rPr lang="en-US" sz="2100" dirty="0">
                <a:solidFill>
                  <a:srgbClr val="FF7A00"/>
                </a:solidFill>
                <a:latin typeface="JetBrains Mono" pitchFamily="34" charset="0"/>
                <a:ea typeface="JetBrains Mono" pitchFamily="34" charset="-122"/>
                <a:cs typeface="JetBrains Mono" pitchFamily="34" charset="-120"/>
              </a:rPr>
              <a:t>−74</a:t>
            </a:r>
            <a:endParaRPr lang="en-US" sz="2100" dirty="0"/>
          </a:p>
        </p:txBody>
      </p:sp>
      <p:sp>
        <p:nvSpPr>
          <p:cNvPr id="19" name="Text 17"/>
          <p:cNvSpPr/>
          <p:nvPr/>
        </p:nvSpPr>
        <p:spPr>
          <a:xfrm>
            <a:off x="952500" y="5257874"/>
            <a:ext cx="4352984" cy="456233"/>
          </a:xfrm>
          <a:prstGeom prst="rect">
            <a:avLst/>
          </a:prstGeom>
          <a:noFill/>
          <a:ln/>
        </p:spPr>
        <p:txBody>
          <a:bodyPr wrap="square" lIns="25400" tIns="25400" rIns="25400" bIns="25400" rtlCol="0" anchor="ctr">
            <a:normAutofit/>
          </a:bodyPr>
          <a:lstStyle/>
          <a:p>
            <a:pPr algn="l" indent="0" marL="0">
              <a:lnSpc>
                <a:spcPct val="117297"/>
              </a:lnSpc>
              <a:buNone/>
            </a:pPr>
            <a:r>
              <a:rPr lang="en-US" sz="2100" dirty="0">
                <a:solidFill>
                  <a:srgbClr val="AAB8C2"/>
                </a:solidFill>
                <a:latin typeface="JetBrains Mono" pitchFamily="34" charset="0"/>
                <a:ea typeface="JetBrains Mono" pitchFamily="34" charset="-122"/>
                <a:cs typeface="JetBrains Mono" pitchFamily="34" charset="-120"/>
              </a:rPr>
              <a:t>Gray</a:t>
            </a:r>
            <a:endParaRPr lang="en-US" sz="2100" dirty="0"/>
          </a:p>
        </p:txBody>
      </p:sp>
      <p:sp>
        <p:nvSpPr>
          <p:cNvPr id="20" name="Text 18"/>
          <p:cNvSpPr/>
          <p:nvPr/>
        </p:nvSpPr>
        <p:spPr>
          <a:xfrm>
            <a:off x="5102498" y="5257874"/>
            <a:ext cx="1141586" cy="456233"/>
          </a:xfrm>
          <a:prstGeom prst="rect">
            <a:avLst/>
          </a:prstGeom>
          <a:noFill/>
          <a:ln/>
        </p:spPr>
        <p:txBody>
          <a:bodyPr wrap="square" lIns="25400" tIns="25400" rIns="25400" bIns="25400" rtlCol="0" anchor="ctr">
            <a:normAutofit/>
          </a:bodyPr>
          <a:lstStyle/>
          <a:p>
            <a:pPr algn="r" indent="0" marL="0">
              <a:lnSpc>
                <a:spcPct val="117297"/>
              </a:lnSpc>
              <a:buNone/>
            </a:pPr>
            <a:r>
              <a:rPr lang="en-US" sz="2100" dirty="0">
                <a:solidFill>
                  <a:srgbClr val="FFFFFF"/>
                </a:solidFill>
                <a:latin typeface="JetBrains Mono" pitchFamily="34" charset="0"/>
                <a:ea typeface="JetBrains Mono" pitchFamily="34" charset="-122"/>
                <a:cs typeface="JetBrains Mono" pitchFamily="34" charset="-120"/>
              </a:rPr>
              <a:t>118</a:t>
            </a:r>
            <a:endParaRPr lang="en-US" sz="2100" dirty="0"/>
          </a:p>
        </p:txBody>
      </p:sp>
      <p:sp>
        <p:nvSpPr>
          <p:cNvPr id="21" name="Text 19"/>
          <p:cNvSpPr/>
          <p:nvPr/>
        </p:nvSpPr>
        <p:spPr>
          <a:xfrm>
            <a:off x="6167884" y="5257874"/>
            <a:ext cx="1354782" cy="456233"/>
          </a:xfrm>
          <a:prstGeom prst="rect">
            <a:avLst/>
          </a:prstGeom>
          <a:noFill/>
          <a:ln/>
        </p:spPr>
        <p:txBody>
          <a:bodyPr wrap="square" lIns="25400" tIns="25400" rIns="25400" bIns="25400" rtlCol="0" anchor="ctr">
            <a:normAutofit/>
          </a:bodyPr>
          <a:lstStyle/>
          <a:p>
            <a:pPr algn="r" indent="0" marL="0">
              <a:lnSpc>
                <a:spcPct val="117297"/>
              </a:lnSpc>
              <a:buNone/>
            </a:pPr>
            <a:r>
              <a:rPr lang="en-US" sz="2100" dirty="0">
                <a:solidFill>
                  <a:srgbClr val="FFFFFF"/>
                </a:solidFill>
                <a:latin typeface="JetBrains Mono" pitchFamily="34" charset="0"/>
                <a:ea typeface="JetBrains Mono" pitchFamily="34" charset="-122"/>
                <a:cs typeface="JetBrains Mono" pitchFamily="34" charset="-120"/>
              </a:rPr>
              <a:t>51</a:t>
            </a:r>
            <a:endParaRPr lang="en-US" sz="2100" dirty="0"/>
          </a:p>
        </p:txBody>
      </p:sp>
      <p:sp>
        <p:nvSpPr>
          <p:cNvPr id="22" name="Text 20"/>
          <p:cNvSpPr/>
          <p:nvPr/>
        </p:nvSpPr>
        <p:spPr>
          <a:xfrm>
            <a:off x="7446466" y="5257874"/>
            <a:ext cx="1070744" cy="456233"/>
          </a:xfrm>
          <a:prstGeom prst="rect">
            <a:avLst/>
          </a:prstGeom>
          <a:noFill/>
          <a:ln/>
        </p:spPr>
        <p:txBody>
          <a:bodyPr wrap="square" lIns="25400" tIns="25400" rIns="25400" bIns="25400" rtlCol="0" anchor="ctr">
            <a:normAutofit/>
          </a:bodyPr>
          <a:lstStyle/>
          <a:p>
            <a:pPr algn="r" indent="0" marL="0">
              <a:lnSpc>
                <a:spcPct val="117297"/>
              </a:lnSpc>
              <a:buNone/>
            </a:pPr>
            <a:r>
              <a:rPr lang="en-US" sz="2100" dirty="0">
                <a:solidFill>
                  <a:srgbClr val="AAB8C2"/>
                </a:solidFill>
                <a:latin typeface="JetBrains Mono" pitchFamily="34" charset="0"/>
                <a:ea typeface="JetBrains Mono" pitchFamily="34" charset="-122"/>
                <a:cs typeface="JetBrains Mono" pitchFamily="34" charset="-120"/>
              </a:rPr>
              <a:t>−67</a:t>
            </a:r>
            <a:endParaRPr lang="en-US" sz="2100" dirty="0"/>
          </a:p>
        </p:txBody>
      </p:sp>
      <p:sp>
        <p:nvSpPr>
          <p:cNvPr id="23" name="Shape 21"/>
          <p:cNvSpPr/>
          <p:nvPr/>
        </p:nvSpPr>
        <p:spPr>
          <a:xfrm>
            <a:off x="952500" y="5847457"/>
            <a:ext cx="7564710" cy="9525"/>
          </a:xfrm>
          <a:prstGeom prst="rect">
            <a:avLst/>
          </a:prstGeom>
          <a:solidFill>
            <a:srgbClr val="1F3A5F"/>
          </a:solidFill>
          <a:ln/>
        </p:spPr>
      </p:sp>
      <p:sp>
        <p:nvSpPr>
          <p:cNvPr id="24" name="Text 22"/>
          <p:cNvSpPr/>
          <p:nvPr/>
        </p:nvSpPr>
        <p:spPr>
          <a:xfrm>
            <a:off x="952500" y="6018907"/>
            <a:ext cx="4352984" cy="456233"/>
          </a:xfrm>
          <a:prstGeom prst="rect">
            <a:avLst/>
          </a:prstGeom>
          <a:noFill/>
          <a:ln/>
        </p:spPr>
        <p:txBody>
          <a:bodyPr wrap="square" lIns="25400" tIns="25400" rIns="25400" bIns="25400" rtlCol="0" anchor="ctr">
            <a:normAutofit/>
          </a:bodyPr>
          <a:lstStyle/>
          <a:p>
            <a:pPr algn="l" indent="0" marL="0">
              <a:lnSpc>
                <a:spcPct val="117297"/>
              </a:lnSpc>
              <a:buNone/>
            </a:pPr>
            <a:r>
              <a:rPr lang="en-US" sz="2100" dirty="0">
                <a:solidFill>
                  <a:srgbClr val="FFFFFF"/>
                </a:solidFill>
                <a:latin typeface="JetBrains Mono" pitchFamily="34" charset="0"/>
                <a:ea typeface="JetBrains Mono" pitchFamily="34" charset="-122"/>
                <a:cs typeface="JetBrains Mono" pitchFamily="34" charset="-120"/>
              </a:rPr>
              <a:t>Three-layer total</a:t>
            </a:r>
            <a:endParaRPr lang="en-US" sz="2100" dirty="0"/>
          </a:p>
        </p:txBody>
      </p:sp>
      <p:sp>
        <p:nvSpPr>
          <p:cNvPr id="25" name="Text 23"/>
          <p:cNvSpPr/>
          <p:nvPr/>
        </p:nvSpPr>
        <p:spPr>
          <a:xfrm>
            <a:off x="5102498" y="6018907"/>
            <a:ext cx="1141586" cy="456233"/>
          </a:xfrm>
          <a:prstGeom prst="rect">
            <a:avLst/>
          </a:prstGeom>
          <a:noFill/>
          <a:ln/>
        </p:spPr>
        <p:txBody>
          <a:bodyPr wrap="square" lIns="25400" tIns="25400" rIns="25400" bIns="25400" rtlCol="0" anchor="ctr">
            <a:normAutofit/>
          </a:bodyPr>
          <a:lstStyle/>
          <a:p>
            <a:pPr algn="r" indent="0" marL="0">
              <a:lnSpc>
                <a:spcPct val="117297"/>
              </a:lnSpc>
              <a:buNone/>
            </a:pPr>
            <a:r>
              <a:rPr lang="en-US" sz="2100" dirty="0">
                <a:solidFill>
                  <a:srgbClr val="FFFFFF"/>
                </a:solidFill>
                <a:latin typeface="JetBrains Mono" pitchFamily="34" charset="0"/>
                <a:ea typeface="JetBrains Mono" pitchFamily="34" charset="-122"/>
                <a:cs typeface="JetBrains Mono" pitchFamily="34" charset="-120"/>
              </a:rPr>
              <a:t>296</a:t>
            </a:r>
            <a:endParaRPr lang="en-US" sz="2100" dirty="0"/>
          </a:p>
        </p:txBody>
      </p:sp>
      <p:sp>
        <p:nvSpPr>
          <p:cNvPr id="26" name="Text 24"/>
          <p:cNvSpPr/>
          <p:nvPr/>
        </p:nvSpPr>
        <p:spPr>
          <a:xfrm>
            <a:off x="6167884" y="6018907"/>
            <a:ext cx="1354782" cy="456233"/>
          </a:xfrm>
          <a:prstGeom prst="rect">
            <a:avLst/>
          </a:prstGeom>
          <a:noFill/>
          <a:ln/>
        </p:spPr>
        <p:txBody>
          <a:bodyPr wrap="square" lIns="25400" tIns="25400" rIns="25400" bIns="25400" rtlCol="0" anchor="ctr">
            <a:normAutofit/>
          </a:bodyPr>
          <a:lstStyle/>
          <a:p>
            <a:pPr algn="r" indent="0" marL="0">
              <a:lnSpc>
                <a:spcPct val="117297"/>
              </a:lnSpc>
              <a:buNone/>
            </a:pPr>
            <a:r>
              <a:rPr lang="en-US" sz="2100" dirty="0">
                <a:solidFill>
                  <a:srgbClr val="FFFFFF"/>
                </a:solidFill>
                <a:latin typeface="JetBrains Mono" pitchFamily="34" charset="0"/>
                <a:ea typeface="JetBrains Mono" pitchFamily="34" charset="-122"/>
                <a:cs typeface="JetBrains Mono" pitchFamily="34" charset="-120"/>
              </a:rPr>
              <a:t>275</a:t>
            </a:r>
            <a:endParaRPr lang="en-US" sz="2100" dirty="0"/>
          </a:p>
        </p:txBody>
      </p:sp>
      <p:sp>
        <p:nvSpPr>
          <p:cNvPr id="27" name="Text 25"/>
          <p:cNvSpPr/>
          <p:nvPr/>
        </p:nvSpPr>
        <p:spPr>
          <a:xfrm>
            <a:off x="7446466" y="6018907"/>
            <a:ext cx="1070744" cy="456233"/>
          </a:xfrm>
          <a:prstGeom prst="rect">
            <a:avLst/>
          </a:prstGeom>
          <a:noFill/>
          <a:ln/>
        </p:spPr>
        <p:txBody>
          <a:bodyPr wrap="square" lIns="25400" tIns="25400" rIns="25400" bIns="25400" rtlCol="0" anchor="ctr">
            <a:normAutofit/>
          </a:bodyPr>
          <a:lstStyle/>
          <a:p>
            <a:pPr algn="r" indent="0" marL="0">
              <a:lnSpc>
                <a:spcPct val="117297"/>
              </a:lnSpc>
              <a:buNone/>
            </a:pPr>
            <a:r>
              <a:rPr lang="en-US" sz="2100" dirty="0">
                <a:solidFill>
                  <a:srgbClr val="FFFFFF"/>
                </a:solidFill>
                <a:latin typeface="JetBrains Mono" pitchFamily="34" charset="0"/>
                <a:ea typeface="JetBrains Mono" pitchFamily="34" charset="-122"/>
                <a:cs typeface="JetBrains Mono" pitchFamily="34" charset="-120"/>
              </a:rPr>
              <a:t>−21</a:t>
            </a:r>
            <a:endParaRPr lang="en-US" sz="2100" dirty="0"/>
          </a:p>
        </p:txBody>
      </p:sp>
      <p:sp>
        <p:nvSpPr>
          <p:cNvPr id="28" name="Text 26"/>
          <p:cNvSpPr/>
          <p:nvPr/>
        </p:nvSpPr>
        <p:spPr>
          <a:xfrm>
            <a:off x="952500" y="6837090"/>
            <a:ext cx="7791652" cy="1584722"/>
          </a:xfrm>
          <a:prstGeom prst="rect">
            <a:avLst/>
          </a:prstGeom>
          <a:noFill/>
          <a:ln/>
        </p:spPr>
        <p:txBody>
          <a:bodyPr wrap="square" lIns="25400" tIns="25400" rIns="25400" bIns="25400" rtlCol="0" anchor="t">
            <a:normAutofit/>
          </a:bodyPr>
          <a:lstStyle/>
          <a:p>
            <a:pPr algn="l" indent="0" marL="0">
              <a:lnSpc>
                <a:spcPct val="119412"/>
              </a:lnSpc>
              <a:buNone/>
            </a:pPr>
            <a:r>
              <a:rPr lang="en-US" sz="2100" dirty="0">
                <a:solidFill>
                  <a:srgbClr val="AAB8C2"/>
                </a:solidFill>
                <a:latin typeface="Inter" pitchFamily="34" charset="0"/>
                <a:ea typeface="Inter" pitchFamily="34" charset="-122"/>
                <a:cs typeface="Inter" pitchFamily="34" charset="-120"/>
              </a:rPr>
              <a:t>A square kilometre can leave one category and appear in another, so reclaimed territory cannot be inferred by subtracting aggregate totals. The totals themselves are not conserved.</a:t>
            </a:r>
            <a:endParaRPr lang="en-US" sz="2100" dirty="0"/>
          </a:p>
        </p:txBody>
      </p:sp>
      <p:sp>
        <p:nvSpPr>
          <p:cNvPr id="29" name="Shape 27"/>
          <p:cNvSpPr/>
          <p:nvPr/>
        </p:nvSpPr>
        <p:spPr>
          <a:xfrm>
            <a:off x="8974410" y="2981474"/>
            <a:ext cx="8361090" cy="4094485"/>
          </a:xfrm>
          <a:prstGeom prst="roundRect">
            <a:avLst>
              <a:gd name="adj" fmla="val 1861"/>
            </a:avLst>
          </a:prstGeom>
          <a:solidFill>
            <a:srgbClr val="122F4A"/>
          </a:solidFill>
          <a:ln w="9525">
            <a:solidFill>
              <a:srgbClr val="1F3A5F"/>
            </a:solidFill>
            <a:prstDash val="solid"/>
          </a:ln>
        </p:spPr>
      </p:sp>
      <p:sp>
        <p:nvSpPr>
          <p:cNvPr id="30" name="Text 28"/>
          <p:cNvSpPr/>
          <p:nvPr/>
        </p:nvSpPr>
        <p:spPr>
          <a:xfrm>
            <a:off x="9326835" y="3238649"/>
            <a:ext cx="8604744"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KM² PER LAYER · 9 APR → 13 AUG 2026</a:t>
            </a:r>
            <a:endParaRPr lang="en-US" sz="1800" dirty="0"/>
          </a:p>
        </p:txBody>
      </p:sp>
      <p:pic>
        <p:nvPicPr>
          <p:cNvPr id="3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74435" y="3592934"/>
            <a:ext cx="7961040" cy="3218259"/>
          </a:xfrm>
          <a:prstGeom prst="rect">
            <a:avLst/>
          </a:prstGeom>
        </p:spPr>
      </p:pic>
      <p:sp>
        <p:nvSpPr>
          <p:cNvPr id="32" name="Text 29"/>
          <p:cNvSpPr/>
          <p:nvPr/>
        </p:nvSpPr>
        <p:spPr>
          <a:xfrm>
            <a:off x="952500" y="9646965"/>
            <a:ext cx="18021300"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Copyright Walker Rowe, Hypatia Academy Cyprus 2026</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952500" y="692125"/>
            <a:ext cx="18021300" cy="678135"/>
          </a:xfrm>
          <a:prstGeom prst="rect">
            <a:avLst/>
          </a:prstGeom>
          <a:noFill/>
          <a:ln/>
        </p:spPr>
        <p:txBody>
          <a:bodyPr wrap="square" lIns="25400" tIns="25400" rIns="25400" bIns="25400" rtlCol="0" anchor="t">
            <a:normAutofit/>
          </a:bodyPr>
          <a:lstStyle/>
          <a:p>
            <a:pPr algn="l" indent="0" marL="0">
              <a:lnSpc>
                <a:spcPct val="69637"/>
              </a:lnSpc>
              <a:buNone/>
            </a:pPr>
            <a:r>
              <a:rPr lang="en-US" sz="4800" spc="24" kern="0" dirty="0">
                <a:solidFill>
                  <a:srgbClr val="FFFFFF"/>
                </a:solidFill>
                <a:latin typeface="Anton" pitchFamily="34" charset="0"/>
                <a:ea typeface="Anton" pitchFamily="34" charset="-122"/>
                <a:cs typeface="Anton" pitchFamily="34" charset="-120"/>
              </a:rPr>
              <a:t>ACCOUNTING FOR EVERY SQUARE METRE</a:t>
            </a:r>
            <a:endParaRPr lang="en-US" sz="4800" dirty="0"/>
          </a:p>
        </p:txBody>
      </p:sp>
      <p:sp>
        <p:nvSpPr>
          <p:cNvPr id="3" name="Text 1"/>
          <p:cNvSpPr/>
          <p:nvPr/>
        </p:nvSpPr>
        <p:spPr>
          <a:xfrm>
            <a:off x="1085850" y="1808411"/>
            <a:ext cx="2086124" cy="751433"/>
          </a:xfrm>
          <a:prstGeom prst="rect">
            <a:avLst/>
          </a:prstGeom>
          <a:noFill/>
          <a:ln/>
        </p:spPr>
        <p:txBody>
          <a:bodyPr wrap="square" lIns="25400" tIns="25400" rIns="25400" bIns="25400" rtlCol="0" anchor="ctr">
            <a:normAutofit/>
          </a:bodyPr>
          <a:lstStyle/>
          <a:p>
            <a:pPr algn="l"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BEFORE ↓ / AFTER →</a:t>
            </a:r>
            <a:endParaRPr lang="en-US" sz="1800" dirty="0"/>
          </a:p>
        </p:txBody>
      </p:sp>
      <p:sp>
        <p:nvSpPr>
          <p:cNvPr id="4" name="Text 2"/>
          <p:cNvSpPr/>
          <p:nvPr/>
        </p:nvSpPr>
        <p:spPr>
          <a:xfrm>
            <a:off x="3324374" y="1808411"/>
            <a:ext cx="1413570" cy="751433"/>
          </a:xfrm>
          <a:prstGeom prst="rect">
            <a:avLst/>
          </a:prstGeom>
          <a:noFill/>
          <a:ln/>
        </p:spPr>
        <p:txBody>
          <a:bodyPr wrap="square" lIns="25400" tIns="25400" rIns="25400" bIns="25400" rtlCol="0" anchor="ctr">
            <a:normAutofit/>
          </a:bodyPr>
          <a:lstStyle/>
          <a:p>
            <a:pPr algn="ctr" indent="0" marL="0">
              <a:lnSpc>
                <a:spcPct val="118095"/>
              </a:lnSpc>
              <a:buNone/>
            </a:pPr>
            <a:r>
              <a:rPr lang="en-US" sz="1800" dirty="0">
                <a:solidFill>
                  <a:srgbClr val="00D1FF"/>
                </a:solidFill>
                <a:latin typeface="JetBrains Mono" pitchFamily="34" charset="0"/>
                <a:ea typeface="JetBrains Mono" pitchFamily="34" charset="-122"/>
                <a:cs typeface="JetBrains Mono" pitchFamily="34" charset="-120"/>
              </a:rPr>
              <a:t>LIBERATED</a:t>
            </a:r>
            <a:endParaRPr lang="en-US" sz="1800" dirty="0"/>
          </a:p>
        </p:txBody>
      </p:sp>
      <p:sp>
        <p:nvSpPr>
          <p:cNvPr id="5" name="Text 3"/>
          <p:cNvSpPr/>
          <p:nvPr/>
        </p:nvSpPr>
        <p:spPr>
          <a:xfrm>
            <a:off x="4928443" y="1808411"/>
            <a:ext cx="1560835" cy="751433"/>
          </a:xfrm>
          <a:prstGeom prst="rect">
            <a:avLst/>
          </a:prstGeom>
          <a:noFill/>
          <a:ln/>
        </p:spPr>
        <p:txBody>
          <a:bodyPr wrap="square" lIns="25400" tIns="25400" rIns="25400" bIns="25400" rtlCol="0" anchor="ctr">
            <a:normAutofit/>
          </a:bodyPr>
          <a:lstStyle/>
          <a:p>
            <a:pPr algn="ctr"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GRAY</a:t>
            </a:r>
            <a:endParaRPr lang="en-US" sz="1800" dirty="0"/>
          </a:p>
        </p:txBody>
      </p:sp>
      <p:sp>
        <p:nvSpPr>
          <p:cNvPr id="6" name="Text 4"/>
          <p:cNvSpPr/>
          <p:nvPr/>
        </p:nvSpPr>
        <p:spPr>
          <a:xfrm>
            <a:off x="6679778" y="1808411"/>
            <a:ext cx="1413570" cy="751433"/>
          </a:xfrm>
          <a:prstGeom prst="rect">
            <a:avLst/>
          </a:prstGeom>
          <a:noFill/>
          <a:ln/>
        </p:spPr>
        <p:txBody>
          <a:bodyPr wrap="square" lIns="25400" tIns="25400" rIns="25400" bIns="25400" rtlCol="0" anchor="ctr">
            <a:normAutofit/>
          </a:bodyPr>
          <a:lstStyle/>
          <a:p>
            <a:pPr algn="ctr" indent="0" marL="0">
              <a:lnSpc>
                <a:spcPct val="118095"/>
              </a:lnSpc>
              <a:buNone/>
            </a:pPr>
            <a:r>
              <a:rPr lang="en-US" sz="1800" dirty="0">
                <a:solidFill>
                  <a:srgbClr val="FF7A00"/>
                </a:solidFill>
                <a:latin typeface="JetBrains Mono" pitchFamily="34" charset="0"/>
                <a:ea typeface="JetBrains Mono" pitchFamily="34" charset="-122"/>
                <a:cs typeface="JetBrains Mono" pitchFamily="34" charset="-120"/>
              </a:rPr>
              <a:t>OCCUPIED</a:t>
            </a:r>
            <a:endParaRPr lang="en-US" sz="1800" dirty="0"/>
          </a:p>
        </p:txBody>
      </p:sp>
      <p:sp>
        <p:nvSpPr>
          <p:cNvPr id="7" name="Text 5"/>
          <p:cNvSpPr/>
          <p:nvPr/>
        </p:nvSpPr>
        <p:spPr>
          <a:xfrm>
            <a:off x="8283848" y="1808411"/>
            <a:ext cx="1722239" cy="751433"/>
          </a:xfrm>
          <a:prstGeom prst="rect">
            <a:avLst/>
          </a:prstGeom>
          <a:noFill/>
          <a:ln/>
        </p:spPr>
        <p:txBody>
          <a:bodyPr wrap="square" lIns="25400" tIns="25400" rIns="25400" bIns="25400" rtlCol="0" anchor="ctr">
            <a:normAutofit/>
          </a:bodyPr>
          <a:lstStyle/>
          <a:p>
            <a:pPr algn="ctr"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UNCLASSIFIED</a:t>
            </a:r>
            <a:endParaRPr lang="en-US" sz="1800" dirty="0"/>
          </a:p>
        </p:txBody>
      </p:sp>
      <p:sp>
        <p:nvSpPr>
          <p:cNvPr id="8" name="Shape 6"/>
          <p:cNvSpPr/>
          <p:nvPr/>
        </p:nvSpPr>
        <p:spPr>
          <a:xfrm>
            <a:off x="952500" y="2655094"/>
            <a:ext cx="2276624" cy="9525"/>
          </a:xfrm>
          <a:prstGeom prst="rect">
            <a:avLst/>
          </a:prstGeom>
          <a:solidFill>
            <a:srgbClr val="1F3A5F"/>
          </a:solidFill>
          <a:ln/>
        </p:spPr>
      </p:sp>
      <p:sp>
        <p:nvSpPr>
          <p:cNvPr id="9" name="Text 7"/>
          <p:cNvSpPr/>
          <p:nvPr/>
        </p:nvSpPr>
        <p:spPr>
          <a:xfrm>
            <a:off x="1085850" y="2855119"/>
            <a:ext cx="2086124" cy="421928"/>
          </a:xfrm>
          <a:prstGeom prst="rect">
            <a:avLst/>
          </a:prstGeom>
          <a:noFill/>
          <a:ln/>
        </p:spPr>
        <p:txBody>
          <a:bodyPr wrap="square" lIns="25400" tIns="25400" rIns="25400" bIns="25400" rtlCol="0" anchor="ctr">
            <a:normAutofit/>
          </a:bodyPr>
          <a:lstStyle/>
          <a:p>
            <a:pPr algn="l" indent="0" marL="0">
              <a:lnSpc>
                <a:spcPct val="116812"/>
              </a:lnSpc>
              <a:buNone/>
            </a:pPr>
            <a:r>
              <a:rPr lang="en-US" sz="1950" dirty="0">
                <a:solidFill>
                  <a:srgbClr val="FF7A00"/>
                </a:solidFill>
                <a:latin typeface="JetBrains Mono" pitchFamily="34" charset="0"/>
                <a:ea typeface="JetBrains Mono" pitchFamily="34" charset="-122"/>
                <a:cs typeface="JetBrains Mono" pitchFamily="34" charset="-120"/>
              </a:rPr>
              <a:t>Occupied</a:t>
            </a:r>
            <a:endParaRPr lang="en-US" sz="1950" dirty="0"/>
          </a:p>
        </p:txBody>
      </p:sp>
      <p:sp>
        <p:nvSpPr>
          <p:cNvPr id="10" name="Shape 8"/>
          <p:cNvSpPr/>
          <p:nvPr/>
        </p:nvSpPr>
        <p:spPr>
          <a:xfrm>
            <a:off x="3229124" y="2655094"/>
            <a:ext cx="1604070" cy="774353"/>
          </a:xfrm>
          <a:prstGeom prst="rect">
            <a:avLst/>
          </a:prstGeom>
          <a:solidFill>
            <a:srgbClr val="1C3F60"/>
          </a:solidFill>
          <a:ln/>
        </p:spPr>
      </p:sp>
      <p:sp>
        <p:nvSpPr>
          <p:cNvPr id="11" name="Shape 9"/>
          <p:cNvSpPr/>
          <p:nvPr/>
        </p:nvSpPr>
        <p:spPr>
          <a:xfrm>
            <a:off x="3229124" y="2655094"/>
            <a:ext cx="1604070" cy="9525"/>
          </a:xfrm>
          <a:prstGeom prst="rect">
            <a:avLst/>
          </a:prstGeom>
          <a:solidFill>
            <a:srgbClr val="1F3A5F"/>
          </a:solidFill>
          <a:ln/>
        </p:spPr>
      </p:sp>
      <p:sp>
        <p:nvSpPr>
          <p:cNvPr id="12" name="Text 10"/>
          <p:cNvSpPr/>
          <p:nvPr/>
        </p:nvSpPr>
        <p:spPr>
          <a:xfrm>
            <a:off x="3324374" y="2855119"/>
            <a:ext cx="1413570" cy="421928"/>
          </a:xfrm>
          <a:prstGeom prst="rect">
            <a:avLst/>
          </a:prstGeom>
          <a:noFill/>
          <a:ln/>
        </p:spPr>
        <p:txBody>
          <a:bodyPr wrap="square" lIns="25400" tIns="25400" rIns="25400" bIns="25400" rtlCol="0" anchor="ctr">
            <a:normAutofit/>
          </a:bodyPr>
          <a:lstStyle/>
          <a:p>
            <a:pPr algn="ctr" indent="0" marL="0">
              <a:lnSpc>
                <a:spcPct val="116812"/>
              </a:lnSpc>
              <a:buNone/>
            </a:pPr>
            <a:r>
              <a:rPr lang="en-US" sz="1950" b="1" dirty="0">
                <a:solidFill>
                  <a:srgbClr val="00D1FF"/>
                </a:solidFill>
                <a:latin typeface="JetBrains Mono" pitchFamily="34" charset="0"/>
                <a:ea typeface="JetBrains Mono" pitchFamily="34" charset="-122"/>
                <a:cs typeface="JetBrains Mono" pitchFamily="34" charset="-120"/>
              </a:rPr>
              <a:t>counted</a:t>
            </a:r>
            <a:endParaRPr lang="en-US" sz="1950" dirty="0"/>
          </a:p>
        </p:txBody>
      </p:sp>
      <p:sp>
        <p:nvSpPr>
          <p:cNvPr id="13" name="Shape 11"/>
          <p:cNvSpPr/>
          <p:nvPr/>
        </p:nvSpPr>
        <p:spPr>
          <a:xfrm>
            <a:off x="4833193" y="2655094"/>
            <a:ext cx="1751335" cy="9525"/>
          </a:xfrm>
          <a:prstGeom prst="rect">
            <a:avLst/>
          </a:prstGeom>
          <a:solidFill>
            <a:srgbClr val="1F3A5F"/>
          </a:solidFill>
          <a:ln/>
        </p:spPr>
      </p:sp>
      <p:sp>
        <p:nvSpPr>
          <p:cNvPr id="14" name="Text 12"/>
          <p:cNvSpPr/>
          <p:nvPr/>
        </p:nvSpPr>
        <p:spPr>
          <a:xfrm>
            <a:off x="4928443" y="2855119"/>
            <a:ext cx="1560835" cy="421928"/>
          </a:xfrm>
          <a:prstGeom prst="rect">
            <a:avLst/>
          </a:prstGeom>
          <a:noFill/>
          <a:ln/>
        </p:spPr>
        <p:txBody>
          <a:bodyPr wrap="square" lIns="25400" tIns="25400" rIns="25400" bIns="25400" rtlCol="0" anchor="ctr">
            <a:normAutofit/>
          </a:bodyPr>
          <a:lstStyle/>
          <a:p>
            <a:pPr algn="ctr"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contested</a:t>
            </a:r>
            <a:endParaRPr lang="en-US" sz="1950" dirty="0"/>
          </a:p>
        </p:txBody>
      </p:sp>
      <p:sp>
        <p:nvSpPr>
          <p:cNvPr id="15" name="Shape 13"/>
          <p:cNvSpPr/>
          <p:nvPr/>
        </p:nvSpPr>
        <p:spPr>
          <a:xfrm>
            <a:off x="6584528" y="2655094"/>
            <a:ext cx="1604070" cy="9525"/>
          </a:xfrm>
          <a:prstGeom prst="rect">
            <a:avLst/>
          </a:prstGeom>
          <a:solidFill>
            <a:srgbClr val="1F3A5F"/>
          </a:solidFill>
          <a:ln/>
        </p:spPr>
      </p:sp>
      <p:sp>
        <p:nvSpPr>
          <p:cNvPr id="16" name="Text 14"/>
          <p:cNvSpPr/>
          <p:nvPr/>
        </p:nvSpPr>
        <p:spPr>
          <a:xfrm>
            <a:off x="6679778" y="2855119"/>
            <a:ext cx="1413570" cy="421928"/>
          </a:xfrm>
          <a:prstGeom prst="rect">
            <a:avLst/>
          </a:prstGeom>
          <a:noFill/>
          <a:ln/>
        </p:spPr>
        <p:txBody>
          <a:bodyPr wrap="square" lIns="25400" tIns="25400" rIns="25400" bIns="25400" rtlCol="0" anchor="ctr">
            <a:normAutofit/>
          </a:bodyPr>
          <a:lstStyle/>
          <a:p>
            <a:pPr algn="ctr"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unchanged</a:t>
            </a:r>
            <a:endParaRPr lang="en-US" sz="1950" dirty="0"/>
          </a:p>
        </p:txBody>
      </p:sp>
      <p:sp>
        <p:nvSpPr>
          <p:cNvPr id="17" name="Shape 15"/>
          <p:cNvSpPr/>
          <p:nvPr/>
        </p:nvSpPr>
        <p:spPr>
          <a:xfrm>
            <a:off x="8188598" y="2655094"/>
            <a:ext cx="1912739" cy="9525"/>
          </a:xfrm>
          <a:prstGeom prst="rect">
            <a:avLst/>
          </a:prstGeom>
          <a:solidFill>
            <a:srgbClr val="1F3A5F"/>
          </a:solidFill>
          <a:ln/>
        </p:spPr>
      </p:sp>
      <p:sp>
        <p:nvSpPr>
          <p:cNvPr id="18" name="Text 16"/>
          <p:cNvSpPr/>
          <p:nvPr/>
        </p:nvSpPr>
        <p:spPr>
          <a:xfrm>
            <a:off x="8283848" y="2855119"/>
            <a:ext cx="1722239" cy="421928"/>
          </a:xfrm>
          <a:prstGeom prst="rect">
            <a:avLst/>
          </a:prstGeom>
          <a:noFill/>
          <a:ln/>
        </p:spPr>
        <p:txBody>
          <a:bodyPr wrap="square" lIns="25400" tIns="25400" rIns="25400" bIns="25400" rtlCol="0" anchor="ctr">
            <a:normAutofit/>
          </a:bodyPr>
          <a:lstStyle/>
          <a:p>
            <a:pPr algn="ctr"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dropped</a:t>
            </a:r>
            <a:endParaRPr lang="en-US" sz="1950" dirty="0"/>
          </a:p>
        </p:txBody>
      </p:sp>
      <p:sp>
        <p:nvSpPr>
          <p:cNvPr id="19" name="Shape 17"/>
          <p:cNvSpPr/>
          <p:nvPr/>
        </p:nvSpPr>
        <p:spPr>
          <a:xfrm>
            <a:off x="952500" y="3429446"/>
            <a:ext cx="2276624" cy="9525"/>
          </a:xfrm>
          <a:prstGeom prst="rect">
            <a:avLst/>
          </a:prstGeom>
          <a:solidFill>
            <a:srgbClr val="1F3A5F"/>
          </a:solidFill>
          <a:ln/>
        </p:spPr>
      </p:sp>
      <p:sp>
        <p:nvSpPr>
          <p:cNvPr id="20" name="Text 18"/>
          <p:cNvSpPr/>
          <p:nvPr/>
        </p:nvSpPr>
        <p:spPr>
          <a:xfrm>
            <a:off x="1085850" y="3629471"/>
            <a:ext cx="2086124" cy="421928"/>
          </a:xfrm>
          <a:prstGeom prst="rect">
            <a:avLst/>
          </a:prstGeom>
          <a:noFill/>
          <a:ln/>
        </p:spPr>
        <p:txBody>
          <a:bodyPr wrap="square" lIns="25400" tIns="25400" rIns="25400" bIns="25400" rtlCol="0" anchor="ctr">
            <a:normAutofit/>
          </a:bodyPr>
          <a:lstStyle/>
          <a:p>
            <a:pPr algn="l"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Gray</a:t>
            </a:r>
            <a:endParaRPr lang="en-US" sz="1950" dirty="0"/>
          </a:p>
        </p:txBody>
      </p:sp>
      <p:sp>
        <p:nvSpPr>
          <p:cNvPr id="21" name="Shape 19"/>
          <p:cNvSpPr/>
          <p:nvPr/>
        </p:nvSpPr>
        <p:spPr>
          <a:xfrm>
            <a:off x="3229124" y="3429446"/>
            <a:ext cx="1604070" cy="9525"/>
          </a:xfrm>
          <a:prstGeom prst="rect">
            <a:avLst/>
          </a:prstGeom>
          <a:solidFill>
            <a:srgbClr val="1F3A5F"/>
          </a:solidFill>
          <a:ln/>
        </p:spPr>
      </p:sp>
      <p:sp>
        <p:nvSpPr>
          <p:cNvPr id="22" name="Text 20"/>
          <p:cNvSpPr/>
          <p:nvPr/>
        </p:nvSpPr>
        <p:spPr>
          <a:xfrm>
            <a:off x="3324374" y="3629471"/>
            <a:ext cx="1413570" cy="421928"/>
          </a:xfrm>
          <a:prstGeom prst="rect">
            <a:avLst/>
          </a:prstGeom>
          <a:noFill/>
          <a:ln/>
        </p:spPr>
        <p:txBody>
          <a:bodyPr wrap="square" lIns="25400" tIns="25400" rIns="25400" bIns="25400" rtlCol="0" anchor="ctr">
            <a:normAutofit/>
          </a:bodyPr>
          <a:lstStyle/>
          <a:p>
            <a:pPr algn="ctr"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clarified</a:t>
            </a:r>
            <a:endParaRPr lang="en-US" sz="1950" dirty="0"/>
          </a:p>
        </p:txBody>
      </p:sp>
      <p:sp>
        <p:nvSpPr>
          <p:cNvPr id="23" name="Shape 21"/>
          <p:cNvSpPr/>
          <p:nvPr/>
        </p:nvSpPr>
        <p:spPr>
          <a:xfrm>
            <a:off x="4833193" y="3429446"/>
            <a:ext cx="1751335" cy="9525"/>
          </a:xfrm>
          <a:prstGeom prst="rect">
            <a:avLst/>
          </a:prstGeom>
          <a:solidFill>
            <a:srgbClr val="1F3A5F"/>
          </a:solidFill>
          <a:ln/>
        </p:spPr>
      </p:sp>
      <p:sp>
        <p:nvSpPr>
          <p:cNvPr id="24" name="Text 22"/>
          <p:cNvSpPr/>
          <p:nvPr/>
        </p:nvSpPr>
        <p:spPr>
          <a:xfrm>
            <a:off x="4928443" y="3629471"/>
            <a:ext cx="1560835" cy="421928"/>
          </a:xfrm>
          <a:prstGeom prst="rect">
            <a:avLst/>
          </a:prstGeom>
          <a:noFill/>
          <a:ln/>
        </p:spPr>
        <p:txBody>
          <a:bodyPr wrap="square" lIns="25400" tIns="25400" rIns="25400" bIns="25400" rtlCol="0" anchor="ctr">
            <a:normAutofit/>
          </a:bodyPr>
          <a:lstStyle/>
          <a:p>
            <a:pPr algn="ctr"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unchanged</a:t>
            </a:r>
            <a:endParaRPr lang="en-US" sz="1950" dirty="0"/>
          </a:p>
        </p:txBody>
      </p:sp>
      <p:sp>
        <p:nvSpPr>
          <p:cNvPr id="25" name="Shape 23"/>
          <p:cNvSpPr/>
          <p:nvPr/>
        </p:nvSpPr>
        <p:spPr>
          <a:xfrm>
            <a:off x="6584528" y="3429446"/>
            <a:ext cx="1604070" cy="9525"/>
          </a:xfrm>
          <a:prstGeom prst="rect">
            <a:avLst/>
          </a:prstGeom>
          <a:solidFill>
            <a:srgbClr val="1F3A5F"/>
          </a:solidFill>
          <a:ln/>
        </p:spPr>
      </p:sp>
      <p:sp>
        <p:nvSpPr>
          <p:cNvPr id="26" name="Text 24"/>
          <p:cNvSpPr/>
          <p:nvPr/>
        </p:nvSpPr>
        <p:spPr>
          <a:xfrm>
            <a:off x="6679778" y="3629471"/>
            <a:ext cx="1413570" cy="421928"/>
          </a:xfrm>
          <a:prstGeom prst="rect">
            <a:avLst/>
          </a:prstGeom>
          <a:noFill/>
          <a:ln/>
        </p:spPr>
        <p:txBody>
          <a:bodyPr wrap="square" lIns="25400" tIns="25400" rIns="25400" bIns="25400" rtlCol="0" anchor="ctr">
            <a:normAutofit/>
          </a:bodyPr>
          <a:lstStyle/>
          <a:p>
            <a:pPr algn="ctr"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lost</a:t>
            </a:r>
            <a:endParaRPr lang="en-US" sz="1950" dirty="0"/>
          </a:p>
        </p:txBody>
      </p:sp>
      <p:sp>
        <p:nvSpPr>
          <p:cNvPr id="27" name="Shape 25"/>
          <p:cNvSpPr/>
          <p:nvPr/>
        </p:nvSpPr>
        <p:spPr>
          <a:xfrm>
            <a:off x="8188598" y="3429446"/>
            <a:ext cx="1912739" cy="9525"/>
          </a:xfrm>
          <a:prstGeom prst="rect">
            <a:avLst/>
          </a:prstGeom>
          <a:solidFill>
            <a:srgbClr val="1F3A5F"/>
          </a:solidFill>
          <a:ln/>
        </p:spPr>
      </p:sp>
      <p:sp>
        <p:nvSpPr>
          <p:cNvPr id="28" name="Text 26"/>
          <p:cNvSpPr/>
          <p:nvPr/>
        </p:nvSpPr>
        <p:spPr>
          <a:xfrm>
            <a:off x="8283848" y="3629471"/>
            <a:ext cx="1722239" cy="421928"/>
          </a:xfrm>
          <a:prstGeom prst="rect">
            <a:avLst/>
          </a:prstGeom>
          <a:noFill/>
          <a:ln/>
        </p:spPr>
        <p:txBody>
          <a:bodyPr wrap="square" lIns="25400" tIns="25400" rIns="25400" bIns="25400" rtlCol="0" anchor="ctr">
            <a:normAutofit/>
          </a:bodyPr>
          <a:lstStyle/>
          <a:p>
            <a:pPr algn="ctr"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dropped</a:t>
            </a:r>
            <a:endParaRPr lang="en-US" sz="1950" dirty="0"/>
          </a:p>
        </p:txBody>
      </p:sp>
      <p:sp>
        <p:nvSpPr>
          <p:cNvPr id="29" name="Shape 27"/>
          <p:cNvSpPr/>
          <p:nvPr/>
        </p:nvSpPr>
        <p:spPr>
          <a:xfrm>
            <a:off x="952500" y="4203799"/>
            <a:ext cx="2276624" cy="9525"/>
          </a:xfrm>
          <a:prstGeom prst="rect">
            <a:avLst/>
          </a:prstGeom>
          <a:solidFill>
            <a:srgbClr val="1F3A5F"/>
          </a:solidFill>
          <a:ln/>
        </p:spPr>
      </p:sp>
      <p:sp>
        <p:nvSpPr>
          <p:cNvPr id="30" name="Text 28"/>
          <p:cNvSpPr/>
          <p:nvPr/>
        </p:nvSpPr>
        <p:spPr>
          <a:xfrm>
            <a:off x="1085850" y="4403824"/>
            <a:ext cx="2086124" cy="805755"/>
          </a:xfrm>
          <a:prstGeom prst="rect">
            <a:avLst/>
          </a:prstGeom>
          <a:noFill/>
          <a:ln/>
        </p:spPr>
        <p:txBody>
          <a:bodyPr wrap="square" lIns="25400" tIns="25400" rIns="25400" bIns="25400" rtlCol="0" anchor="ctr">
            <a:normAutofit/>
          </a:bodyPr>
          <a:lstStyle/>
          <a:p>
            <a:pPr algn="l" indent="0" marL="0">
              <a:lnSpc>
                <a:spcPct val="116812"/>
              </a:lnSpc>
              <a:buNone/>
            </a:pPr>
            <a:r>
              <a:rPr lang="en-US" sz="1950" dirty="0">
                <a:solidFill>
                  <a:srgbClr val="00D1FF"/>
                </a:solidFill>
                <a:latin typeface="JetBrains Mono" pitchFamily="34" charset="0"/>
                <a:ea typeface="JetBrains Mono" pitchFamily="34" charset="-122"/>
                <a:cs typeface="JetBrains Mono" pitchFamily="34" charset="-120"/>
              </a:rPr>
              <a:t>Liberated</a:t>
            </a:r>
            <a:endParaRPr lang="en-US" sz="1950" dirty="0"/>
          </a:p>
        </p:txBody>
      </p:sp>
      <p:sp>
        <p:nvSpPr>
          <p:cNvPr id="31" name="Shape 29"/>
          <p:cNvSpPr/>
          <p:nvPr/>
        </p:nvSpPr>
        <p:spPr>
          <a:xfrm>
            <a:off x="3229124" y="4203799"/>
            <a:ext cx="1604070" cy="9525"/>
          </a:xfrm>
          <a:prstGeom prst="rect">
            <a:avLst/>
          </a:prstGeom>
          <a:solidFill>
            <a:srgbClr val="1F3A5F"/>
          </a:solidFill>
          <a:ln/>
        </p:spPr>
      </p:sp>
      <p:sp>
        <p:nvSpPr>
          <p:cNvPr id="32" name="Text 30"/>
          <p:cNvSpPr/>
          <p:nvPr/>
        </p:nvSpPr>
        <p:spPr>
          <a:xfrm>
            <a:off x="3324374" y="4403824"/>
            <a:ext cx="1413570" cy="805755"/>
          </a:xfrm>
          <a:prstGeom prst="rect">
            <a:avLst/>
          </a:prstGeom>
          <a:noFill/>
          <a:ln/>
        </p:spPr>
        <p:txBody>
          <a:bodyPr wrap="square" lIns="25400" tIns="25400" rIns="25400" bIns="25400" rtlCol="0" anchor="ctr">
            <a:normAutofit/>
          </a:bodyPr>
          <a:lstStyle/>
          <a:p>
            <a:pPr algn="ctr"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unchanged</a:t>
            </a:r>
            <a:endParaRPr lang="en-US" sz="1950" dirty="0"/>
          </a:p>
        </p:txBody>
      </p:sp>
      <p:sp>
        <p:nvSpPr>
          <p:cNvPr id="33" name="Shape 31"/>
          <p:cNvSpPr/>
          <p:nvPr/>
        </p:nvSpPr>
        <p:spPr>
          <a:xfrm>
            <a:off x="4833193" y="4203799"/>
            <a:ext cx="1751335" cy="9525"/>
          </a:xfrm>
          <a:prstGeom prst="rect">
            <a:avLst/>
          </a:prstGeom>
          <a:solidFill>
            <a:srgbClr val="1F3A5F"/>
          </a:solidFill>
          <a:ln/>
        </p:spPr>
      </p:sp>
      <p:sp>
        <p:nvSpPr>
          <p:cNvPr id="34" name="Text 32"/>
          <p:cNvSpPr/>
          <p:nvPr/>
        </p:nvSpPr>
        <p:spPr>
          <a:xfrm>
            <a:off x="4928443" y="4403824"/>
            <a:ext cx="1560835" cy="805755"/>
          </a:xfrm>
          <a:prstGeom prst="rect">
            <a:avLst/>
          </a:prstGeom>
          <a:noFill/>
          <a:ln/>
        </p:spPr>
        <p:txBody>
          <a:bodyPr wrap="square" lIns="25400" tIns="25400" rIns="25400" bIns="25400" rtlCol="0" anchor="ctr">
            <a:normAutofit/>
          </a:bodyPr>
          <a:lstStyle/>
          <a:p>
            <a:pPr algn="ctr"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re-contested</a:t>
            </a:r>
            <a:endParaRPr lang="en-US" sz="1950" dirty="0"/>
          </a:p>
        </p:txBody>
      </p:sp>
      <p:sp>
        <p:nvSpPr>
          <p:cNvPr id="35" name="Shape 33"/>
          <p:cNvSpPr/>
          <p:nvPr/>
        </p:nvSpPr>
        <p:spPr>
          <a:xfrm>
            <a:off x="6584528" y="4203799"/>
            <a:ext cx="1604070" cy="9525"/>
          </a:xfrm>
          <a:prstGeom prst="rect">
            <a:avLst/>
          </a:prstGeom>
          <a:solidFill>
            <a:srgbClr val="1F3A5F"/>
          </a:solidFill>
          <a:ln/>
        </p:spPr>
      </p:sp>
      <p:sp>
        <p:nvSpPr>
          <p:cNvPr id="36" name="Text 34"/>
          <p:cNvSpPr/>
          <p:nvPr/>
        </p:nvSpPr>
        <p:spPr>
          <a:xfrm>
            <a:off x="6679778" y="4403824"/>
            <a:ext cx="1413570" cy="805755"/>
          </a:xfrm>
          <a:prstGeom prst="rect">
            <a:avLst/>
          </a:prstGeom>
          <a:noFill/>
          <a:ln/>
        </p:spPr>
        <p:txBody>
          <a:bodyPr wrap="square" lIns="25400" tIns="25400" rIns="25400" bIns="25400" rtlCol="0" anchor="ctr">
            <a:normAutofit/>
          </a:bodyPr>
          <a:lstStyle/>
          <a:p>
            <a:pPr algn="ctr"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reversed</a:t>
            </a:r>
            <a:endParaRPr lang="en-US" sz="1950" dirty="0"/>
          </a:p>
        </p:txBody>
      </p:sp>
      <p:sp>
        <p:nvSpPr>
          <p:cNvPr id="37" name="Shape 35"/>
          <p:cNvSpPr/>
          <p:nvPr/>
        </p:nvSpPr>
        <p:spPr>
          <a:xfrm>
            <a:off x="8188598" y="4203799"/>
            <a:ext cx="1912739" cy="9525"/>
          </a:xfrm>
          <a:prstGeom prst="rect">
            <a:avLst/>
          </a:prstGeom>
          <a:solidFill>
            <a:srgbClr val="1F3A5F"/>
          </a:solidFill>
          <a:ln/>
        </p:spPr>
      </p:sp>
      <p:sp>
        <p:nvSpPr>
          <p:cNvPr id="38" name="Text 36"/>
          <p:cNvSpPr/>
          <p:nvPr/>
        </p:nvSpPr>
        <p:spPr>
          <a:xfrm>
            <a:off x="8283848" y="4403824"/>
            <a:ext cx="1722239" cy="805755"/>
          </a:xfrm>
          <a:prstGeom prst="rect">
            <a:avLst/>
          </a:prstGeom>
          <a:noFill/>
          <a:ln/>
        </p:spPr>
        <p:txBody>
          <a:bodyPr wrap="square" lIns="25400" tIns="25400" rIns="25400" bIns="25400" rtlCol="0" anchor="ctr">
            <a:normAutofit/>
          </a:bodyPr>
          <a:lstStyle/>
          <a:p>
            <a:pPr algn="ctr"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dropped</a:t>
            </a:r>
            <a:endParaRPr lang="en-US" sz="1950" dirty="0"/>
          </a:p>
        </p:txBody>
      </p:sp>
      <p:sp>
        <p:nvSpPr>
          <p:cNvPr id="39" name="Shape 37"/>
          <p:cNvSpPr/>
          <p:nvPr/>
        </p:nvSpPr>
        <p:spPr>
          <a:xfrm>
            <a:off x="952500" y="5361980"/>
            <a:ext cx="2276624" cy="9525"/>
          </a:xfrm>
          <a:prstGeom prst="rect">
            <a:avLst/>
          </a:prstGeom>
          <a:solidFill>
            <a:srgbClr val="1F3A5F"/>
          </a:solidFill>
          <a:ln/>
        </p:spPr>
      </p:sp>
      <p:sp>
        <p:nvSpPr>
          <p:cNvPr id="40" name="Text 38"/>
          <p:cNvSpPr/>
          <p:nvPr/>
        </p:nvSpPr>
        <p:spPr>
          <a:xfrm>
            <a:off x="1085850" y="5562005"/>
            <a:ext cx="2086124" cy="417165"/>
          </a:xfrm>
          <a:prstGeom prst="rect">
            <a:avLst/>
          </a:prstGeom>
          <a:noFill/>
          <a:ln/>
        </p:spPr>
        <p:txBody>
          <a:bodyPr wrap="square" lIns="25400" tIns="25400" rIns="25400" bIns="25400" rtlCol="0" anchor="ctr">
            <a:normAutofit/>
          </a:bodyPr>
          <a:lstStyle/>
          <a:p>
            <a:pPr algn="l"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Unclassified</a:t>
            </a:r>
            <a:endParaRPr lang="en-US" sz="1950" dirty="0"/>
          </a:p>
        </p:txBody>
      </p:sp>
      <p:sp>
        <p:nvSpPr>
          <p:cNvPr id="41" name="Shape 39"/>
          <p:cNvSpPr/>
          <p:nvPr/>
        </p:nvSpPr>
        <p:spPr>
          <a:xfrm>
            <a:off x="3229124" y="5361980"/>
            <a:ext cx="1604070" cy="9525"/>
          </a:xfrm>
          <a:prstGeom prst="rect">
            <a:avLst/>
          </a:prstGeom>
          <a:solidFill>
            <a:srgbClr val="1F3A5F"/>
          </a:solidFill>
          <a:ln/>
        </p:spPr>
      </p:sp>
      <p:sp>
        <p:nvSpPr>
          <p:cNvPr id="42" name="Text 40"/>
          <p:cNvSpPr/>
          <p:nvPr/>
        </p:nvSpPr>
        <p:spPr>
          <a:xfrm>
            <a:off x="3324374" y="5562005"/>
            <a:ext cx="1413570" cy="417165"/>
          </a:xfrm>
          <a:prstGeom prst="rect">
            <a:avLst/>
          </a:prstGeom>
          <a:noFill/>
          <a:ln/>
        </p:spPr>
        <p:txBody>
          <a:bodyPr wrap="square" lIns="25400" tIns="25400" rIns="25400" bIns="25400" rtlCol="0" anchor="ctr">
            <a:normAutofit/>
          </a:bodyPr>
          <a:lstStyle/>
          <a:p>
            <a:pPr algn="ctr"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new claim</a:t>
            </a:r>
            <a:endParaRPr lang="en-US" sz="1950" dirty="0"/>
          </a:p>
        </p:txBody>
      </p:sp>
      <p:sp>
        <p:nvSpPr>
          <p:cNvPr id="43" name="Shape 41"/>
          <p:cNvSpPr/>
          <p:nvPr/>
        </p:nvSpPr>
        <p:spPr>
          <a:xfrm>
            <a:off x="4833193" y="5361980"/>
            <a:ext cx="1751335" cy="9525"/>
          </a:xfrm>
          <a:prstGeom prst="rect">
            <a:avLst/>
          </a:prstGeom>
          <a:solidFill>
            <a:srgbClr val="1F3A5F"/>
          </a:solidFill>
          <a:ln/>
        </p:spPr>
      </p:sp>
      <p:sp>
        <p:nvSpPr>
          <p:cNvPr id="44" name="Text 42"/>
          <p:cNvSpPr/>
          <p:nvPr/>
        </p:nvSpPr>
        <p:spPr>
          <a:xfrm>
            <a:off x="4928443" y="5562005"/>
            <a:ext cx="1560835" cy="417165"/>
          </a:xfrm>
          <a:prstGeom prst="rect">
            <a:avLst/>
          </a:prstGeom>
          <a:noFill/>
          <a:ln/>
        </p:spPr>
        <p:txBody>
          <a:bodyPr wrap="square" lIns="25400" tIns="25400" rIns="25400" bIns="25400" rtlCol="0" anchor="ctr">
            <a:normAutofit/>
          </a:bodyPr>
          <a:lstStyle/>
          <a:p>
            <a:pPr algn="ctr"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new claim</a:t>
            </a:r>
            <a:endParaRPr lang="en-US" sz="1950" dirty="0"/>
          </a:p>
        </p:txBody>
      </p:sp>
      <p:sp>
        <p:nvSpPr>
          <p:cNvPr id="45" name="Shape 43"/>
          <p:cNvSpPr/>
          <p:nvPr/>
        </p:nvSpPr>
        <p:spPr>
          <a:xfrm>
            <a:off x="6584528" y="5361980"/>
            <a:ext cx="1604070" cy="9525"/>
          </a:xfrm>
          <a:prstGeom prst="rect">
            <a:avLst/>
          </a:prstGeom>
          <a:solidFill>
            <a:srgbClr val="1F3A5F"/>
          </a:solidFill>
          <a:ln/>
        </p:spPr>
      </p:sp>
      <p:sp>
        <p:nvSpPr>
          <p:cNvPr id="46" name="Text 44"/>
          <p:cNvSpPr/>
          <p:nvPr/>
        </p:nvSpPr>
        <p:spPr>
          <a:xfrm>
            <a:off x="6679778" y="5562005"/>
            <a:ext cx="1413570" cy="417165"/>
          </a:xfrm>
          <a:prstGeom prst="rect">
            <a:avLst/>
          </a:prstGeom>
          <a:noFill/>
          <a:ln/>
        </p:spPr>
        <p:txBody>
          <a:bodyPr wrap="square" lIns="25400" tIns="25400" rIns="25400" bIns="25400" rtlCol="0" anchor="ctr">
            <a:normAutofit/>
          </a:bodyPr>
          <a:lstStyle/>
          <a:p>
            <a:pPr algn="ctr"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new claim</a:t>
            </a:r>
            <a:endParaRPr lang="en-US" sz="1950" dirty="0"/>
          </a:p>
        </p:txBody>
      </p:sp>
      <p:sp>
        <p:nvSpPr>
          <p:cNvPr id="47" name="Shape 45"/>
          <p:cNvSpPr/>
          <p:nvPr/>
        </p:nvSpPr>
        <p:spPr>
          <a:xfrm>
            <a:off x="8188598" y="5361980"/>
            <a:ext cx="1912739" cy="9525"/>
          </a:xfrm>
          <a:prstGeom prst="rect">
            <a:avLst/>
          </a:prstGeom>
          <a:solidFill>
            <a:srgbClr val="1F3A5F"/>
          </a:solidFill>
          <a:ln/>
        </p:spPr>
      </p:sp>
      <p:sp>
        <p:nvSpPr>
          <p:cNvPr id="48" name="Text 46"/>
          <p:cNvSpPr/>
          <p:nvPr/>
        </p:nvSpPr>
        <p:spPr>
          <a:xfrm>
            <a:off x="8283848" y="5562005"/>
            <a:ext cx="1722239" cy="417165"/>
          </a:xfrm>
          <a:prstGeom prst="rect">
            <a:avLst/>
          </a:prstGeom>
          <a:noFill/>
          <a:ln/>
        </p:spPr>
        <p:txBody>
          <a:bodyPr wrap="square" lIns="25400" tIns="25400" rIns="25400" bIns="25400" rtlCol="0" anchor="ctr">
            <a:normAutofit/>
          </a:bodyPr>
          <a:lstStyle/>
          <a:p>
            <a:pPr algn="ctr" indent="0" marL="0">
              <a:lnSpc>
                <a:spcPct val="116812"/>
              </a:lnSpc>
              <a:buNone/>
            </a:pPr>
            <a:r>
              <a:rPr lang="en-US" sz="1950" dirty="0">
                <a:solidFill>
                  <a:srgbClr val="AAB8C2"/>
                </a:solidFill>
                <a:latin typeface="JetBrains Mono" pitchFamily="34" charset="0"/>
                <a:ea typeface="JetBrains Mono" pitchFamily="34" charset="-122"/>
                <a:cs typeface="JetBrains Mono" pitchFamily="34" charset="-120"/>
              </a:rPr>
              <a:t>—</a:t>
            </a:r>
            <a:endParaRPr lang="en-US" sz="1950" dirty="0"/>
          </a:p>
        </p:txBody>
      </p:sp>
      <p:sp>
        <p:nvSpPr>
          <p:cNvPr id="49" name="Text 47"/>
          <p:cNvSpPr/>
          <p:nvPr/>
        </p:nvSpPr>
        <p:spPr>
          <a:xfrm>
            <a:off x="10558537" y="1675061"/>
            <a:ext cx="6980272" cy="784771"/>
          </a:xfrm>
          <a:prstGeom prst="rect">
            <a:avLst/>
          </a:prstGeom>
          <a:noFill/>
          <a:ln/>
        </p:spPr>
        <p:txBody>
          <a:bodyPr wrap="square" lIns="25400" tIns="25400" rIns="25400" bIns="25400" rtlCol="0" anchor="t">
            <a:normAutofit/>
          </a:bodyPr>
          <a:lstStyle/>
          <a:p>
            <a:pPr algn="l" indent="0" marL="0">
              <a:lnSpc>
                <a:spcPct val="115294"/>
              </a:lnSpc>
              <a:buNone/>
            </a:pPr>
            <a:r>
              <a:rPr lang="en-US" sz="2100" dirty="0">
                <a:solidFill>
                  <a:srgbClr val="FFFFFF"/>
                </a:solidFill>
                <a:latin typeface="Inter" pitchFamily="34" charset="0"/>
                <a:ea typeface="Inter" pitchFamily="34" charset="-122"/>
                <a:cs typeface="Inter" pitchFamily="34" charset="-120"/>
              </a:rPr>
              <a:t>Inside a fixed mask, every square metre is assigned a before-state and an after-state.</a:t>
            </a:r>
            <a:endParaRPr lang="en-US" sz="2100" dirty="0"/>
          </a:p>
        </p:txBody>
      </p:sp>
      <p:sp>
        <p:nvSpPr>
          <p:cNvPr id="50" name="Text 48"/>
          <p:cNvSpPr/>
          <p:nvPr/>
        </p:nvSpPr>
        <p:spPr>
          <a:xfrm>
            <a:off x="10558537" y="2631281"/>
            <a:ext cx="3335655" cy="966788"/>
          </a:xfrm>
          <a:prstGeom prst="rect">
            <a:avLst/>
          </a:prstGeom>
          <a:noFill/>
          <a:ln/>
        </p:spPr>
        <p:txBody>
          <a:bodyPr wrap="square" lIns="25400" tIns="25400" rIns="25400" bIns="25400" rtlCol="0" anchor="t">
            <a:normAutofit/>
          </a:bodyPr>
          <a:lstStyle/>
          <a:p>
            <a:pPr algn="l" indent="0" marL="0">
              <a:lnSpc>
                <a:spcPct val="98485"/>
              </a:lnSpc>
              <a:buNone/>
            </a:pPr>
            <a:r>
              <a:rPr lang="en-US" sz="1875" dirty="0">
                <a:solidFill>
                  <a:srgbClr val="00D1FF"/>
                </a:solidFill>
                <a:latin typeface="JetBrains Mono" pitchFamily="34" charset="0"/>
                <a:ea typeface="JetBrains Mono" pitchFamily="34" charset="-122"/>
                <a:cs typeface="JetBrains Mono" pitchFamily="34" charset="-120"/>
              </a:rPr>
              <a:t>occupied → liberated</a:t>
            </a:r>
            <a:endParaRPr lang="en-US" sz="1875" dirty="0"/>
          </a:p>
        </p:txBody>
      </p:sp>
      <p:sp>
        <p:nvSpPr>
          <p:cNvPr id="51" name="Text 49"/>
          <p:cNvSpPr/>
          <p:nvPr/>
        </p:nvSpPr>
        <p:spPr>
          <a:xfrm>
            <a:off x="13949437" y="2631281"/>
            <a:ext cx="3487645" cy="966788"/>
          </a:xfrm>
          <a:prstGeom prst="rect">
            <a:avLst/>
          </a:prstGeom>
          <a:noFill/>
          <a:ln/>
        </p:spPr>
        <p:txBody>
          <a:bodyPr wrap="square" lIns="25400" tIns="25400" rIns="25400" bIns="25400" rtlCol="0" anchor="t">
            <a:normAutofit/>
          </a:bodyPr>
          <a:lstStyle/>
          <a:p>
            <a:pPr algn="l" indent="0" marL="0">
              <a:lnSpc>
                <a:spcPct val="108333"/>
              </a:lnSpc>
              <a:buNone/>
            </a:pPr>
            <a:r>
              <a:rPr lang="en-US" sz="1875" dirty="0">
                <a:solidFill>
                  <a:srgbClr val="00D1FF"/>
                </a:solidFill>
                <a:latin typeface="Inter" pitchFamily="34" charset="0"/>
                <a:ea typeface="Inter" pitchFamily="34" charset="-122"/>
                <a:cs typeface="Inter" pitchFamily="34" charset="-120"/>
              </a:rPr>
              <a:t>39.72 km² </a:t>
            </a:r>
            <a:pPr algn="l" indent="0" marL="0">
              <a:lnSpc>
                <a:spcPct val="108333"/>
              </a:lnSpc>
              <a:buNone/>
            </a:pPr>
            <a:r>
              <a:rPr lang="en-US" sz="1875" dirty="0">
                <a:solidFill>
                  <a:srgbClr val="FFFFFF"/>
                </a:solidFill>
                <a:latin typeface="Inter" pitchFamily="34" charset="0"/>
                <a:ea typeface="Inter" pitchFamily="34" charset="-122"/>
                <a:cs typeface="Inter" pitchFamily="34" charset="-120"/>
              </a:rPr>
              <a:t>confirmed reclaimed in DeepState classification</a:t>
            </a:r>
            <a:endParaRPr lang="en-US" sz="1875" dirty="0"/>
          </a:p>
        </p:txBody>
      </p:sp>
      <p:sp>
        <p:nvSpPr>
          <p:cNvPr id="52" name="Text 50"/>
          <p:cNvSpPr/>
          <p:nvPr/>
        </p:nvSpPr>
        <p:spPr>
          <a:xfrm>
            <a:off x="10558537" y="3655219"/>
            <a:ext cx="3335655" cy="966788"/>
          </a:xfrm>
          <a:prstGeom prst="rect">
            <a:avLst/>
          </a:prstGeom>
          <a:noFill/>
          <a:ln/>
        </p:spPr>
        <p:txBody>
          <a:bodyPr wrap="square" lIns="25400" tIns="25400" rIns="25400" bIns="25400" rtlCol="0" anchor="t">
            <a:normAutofit/>
          </a:bodyPr>
          <a:lstStyle/>
          <a:p>
            <a:pPr algn="l" indent="0" marL="0">
              <a:lnSpc>
                <a:spcPct val="98485"/>
              </a:lnSpc>
              <a:buNone/>
            </a:pPr>
            <a:r>
              <a:rPr lang="en-US" sz="1875" dirty="0">
                <a:solidFill>
                  <a:srgbClr val="FFFFFF"/>
                </a:solidFill>
                <a:latin typeface="JetBrains Mono" pitchFamily="34" charset="0"/>
                <a:ea typeface="JetBrains Mono" pitchFamily="34" charset="-122"/>
                <a:cs typeface="JetBrains Mono" pitchFamily="34" charset="-120"/>
              </a:rPr>
              <a:t>occupied → gray/contested</a:t>
            </a:r>
            <a:endParaRPr lang="en-US" sz="1875" dirty="0"/>
          </a:p>
        </p:txBody>
      </p:sp>
      <p:sp>
        <p:nvSpPr>
          <p:cNvPr id="53" name="Text 51"/>
          <p:cNvSpPr/>
          <p:nvPr/>
        </p:nvSpPr>
        <p:spPr>
          <a:xfrm>
            <a:off x="13949437" y="3655219"/>
            <a:ext cx="3487645" cy="966788"/>
          </a:xfrm>
          <a:prstGeom prst="rect">
            <a:avLst/>
          </a:prstGeom>
          <a:noFill/>
          <a:ln/>
        </p:spPr>
        <p:txBody>
          <a:bodyPr wrap="square" lIns="25400" tIns="25400" rIns="25400" bIns="25400" rtlCol="0" anchor="t">
            <a:normAutofit/>
          </a:bodyPr>
          <a:lstStyle/>
          <a:p>
            <a:pPr algn="l" indent="0" marL="0">
              <a:lnSpc>
                <a:spcPct val="108333"/>
              </a:lnSpc>
              <a:buNone/>
            </a:pPr>
            <a:r>
              <a:rPr lang="en-US" sz="1875" dirty="0">
                <a:solidFill>
                  <a:srgbClr val="FFFFFF"/>
                </a:solidFill>
                <a:latin typeface="Inter" pitchFamily="34" charset="0"/>
                <a:ea typeface="Inter" pitchFamily="34" charset="-122"/>
                <a:cs typeface="Inter" pitchFamily="34" charset="-120"/>
              </a:rPr>
              <a:t>28.77 km² </a:t>
            </a:r>
            <a:pPr algn="l" indent="0" marL="0">
              <a:lnSpc>
                <a:spcPct val="108333"/>
              </a:lnSpc>
              <a:buNone/>
            </a:pPr>
            <a:r>
              <a:rPr lang="en-US" sz="1875" dirty="0">
                <a:solidFill>
                  <a:srgbClr val="AAB8C2"/>
                </a:solidFill>
                <a:latin typeface="Inter" pitchFamily="34" charset="0"/>
                <a:ea typeface="Inter" pitchFamily="34" charset="-122"/>
                <a:cs typeface="Inter" pitchFamily="34" charset="-120"/>
              </a:rPr>
              <a:t>previously occupied, now contested/unknown</a:t>
            </a:r>
            <a:endParaRPr lang="en-US" sz="1875" dirty="0"/>
          </a:p>
        </p:txBody>
      </p:sp>
      <p:sp>
        <p:nvSpPr>
          <p:cNvPr id="54" name="Text 52"/>
          <p:cNvSpPr/>
          <p:nvPr/>
        </p:nvSpPr>
        <p:spPr>
          <a:xfrm>
            <a:off x="10558537" y="4679156"/>
            <a:ext cx="3335655" cy="657225"/>
          </a:xfrm>
          <a:prstGeom prst="rect">
            <a:avLst/>
          </a:prstGeom>
          <a:noFill/>
          <a:ln/>
        </p:spPr>
        <p:txBody>
          <a:bodyPr wrap="square" lIns="25400" tIns="25400" rIns="25400" bIns="25400" rtlCol="0" anchor="t">
            <a:normAutofit/>
          </a:bodyPr>
          <a:lstStyle/>
          <a:p>
            <a:pPr algn="l" indent="0" marL="0">
              <a:lnSpc>
                <a:spcPct val="98485"/>
              </a:lnSpc>
              <a:buNone/>
            </a:pPr>
            <a:r>
              <a:rPr lang="en-US" sz="1875" dirty="0">
                <a:solidFill>
                  <a:srgbClr val="FFFFFF"/>
                </a:solidFill>
                <a:latin typeface="JetBrains Mono" pitchFamily="34" charset="0"/>
                <a:ea typeface="JetBrains Mono" pitchFamily="34" charset="-122"/>
                <a:cs typeface="JetBrains Mono" pitchFamily="34" charset="-120"/>
              </a:rPr>
              <a:t>gray → liberated</a:t>
            </a:r>
            <a:endParaRPr lang="en-US" sz="1875" dirty="0"/>
          </a:p>
        </p:txBody>
      </p:sp>
      <p:sp>
        <p:nvSpPr>
          <p:cNvPr id="55" name="Text 53"/>
          <p:cNvSpPr/>
          <p:nvPr/>
        </p:nvSpPr>
        <p:spPr>
          <a:xfrm>
            <a:off x="13949437" y="4679156"/>
            <a:ext cx="3487645" cy="657225"/>
          </a:xfrm>
          <a:prstGeom prst="rect">
            <a:avLst/>
          </a:prstGeom>
          <a:noFill/>
          <a:ln/>
        </p:spPr>
        <p:txBody>
          <a:bodyPr wrap="square" lIns="25400" tIns="25400" rIns="25400" bIns="25400" rtlCol="0" anchor="t">
            <a:normAutofit/>
          </a:bodyPr>
          <a:lstStyle/>
          <a:p>
            <a:pPr algn="l" indent="0" marL="0">
              <a:lnSpc>
                <a:spcPct val="108333"/>
              </a:lnSpc>
              <a:buNone/>
            </a:pPr>
            <a:r>
              <a:rPr lang="en-US" sz="1875" dirty="0">
                <a:solidFill>
                  <a:srgbClr val="AAB8C2"/>
                </a:solidFill>
                <a:latin typeface="Inter" pitchFamily="34" charset="0"/>
                <a:ea typeface="Inter" pitchFamily="34" charset="-122"/>
                <a:cs typeface="Inter" pitchFamily="34" charset="-120"/>
              </a:rPr>
              <a:t>progress from contested to liberated</a:t>
            </a:r>
            <a:endParaRPr lang="en-US" sz="1875" dirty="0"/>
          </a:p>
        </p:txBody>
      </p:sp>
      <p:sp>
        <p:nvSpPr>
          <p:cNvPr id="56" name="Text 54"/>
          <p:cNvSpPr/>
          <p:nvPr/>
        </p:nvSpPr>
        <p:spPr>
          <a:xfrm>
            <a:off x="10558537" y="5393531"/>
            <a:ext cx="3335655" cy="657225"/>
          </a:xfrm>
          <a:prstGeom prst="rect">
            <a:avLst/>
          </a:prstGeom>
          <a:noFill/>
          <a:ln/>
        </p:spPr>
        <p:txBody>
          <a:bodyPr wrap="square" lIns="25400" tIns="25400" rIns="25400" bIns="25400" rtlCol="0" anchor="t">
            <a:normAutofit/>
          </a:bodyPr>
          <a:lstStyle/>
          <a:p>
            <a:pPr algn="l" indent="0" marL="0">
              <a:lnSpc>
                <a:spcPct val="98485"/>
              </a:lnSpc>
              <a:buNone/>
            </a:pPr>
            <a:r>
              <a:rPr lang="en-US" sz="1875" dirty="0">
                <a:solidFill>
                  <a:srgbClr val="FF7A00"/>
                </a:solidFill>
                <a:latin typeface="JetBrains Mono" pitchFamily="34" charset="0"/>
                <a:ea typeface="JetBrains Mono" pitchFamily="34" charset="-122"/>
                <a:cs typeface="JetBrains Mono" pitchFamily="34" charset="-120"/>
              </a:rPr>
              <a:t>liberated → gray</a:t>
            </a:r>
            <a:endParaRPr lang="en-US" sz="1875" dirty="0"/>
          </a:p>
        </p:txBody>
      </p:sp>
      <p:sp>
        <p:nvSpPr>
          <p:cNvPr id="57" name="Text 55"/>
          <p:cNvSpPr/>
          <p:nvPr/>
        </p:nvSpPr>
        <p:spPr>
          <a:xfrm>
            <a:off x="13949437" y="5393531"/>
            <a:ext cx="3487645" cy="657225"/>
          </a:xfrm>
          <a:prstGeom prst="rect">
            <a:avLst/>
          </a:prstGeom>
          <a:noFill/>
          <a:ln/>
        </p:spPr>
        <p:txBody>
          <a:bodyPr wrap="square" lIns="25400" tIns="25400" rIns="25400" bIns="25400" rtlCol="0" anchor="t">
            <a:normAutofit/>
          </a:bodyPr>
          <a:lstStyle/>
          <a:p>
            <a:pPr algn="l" indent="0" marL="0">
              <a:lnSpc>
                <a:spcPct val="108333"/>
              </a:lnSpc>
              <a:buNone/>
            </a:pPr>
            <a:r>
              <a:rPr lang="en-US" sz="1875" dirty="0">
                <a:solidFill>
                  <a:srgbClr val="AAB8C2"/>
                </a:solidFill>
                <a:latin typeface="Inter" pitchFamily="34" charset="0"/>
                <a:ea typeface="Inter" pitchFamily="34" charset="-122"/>
                <a:cs typeface="Inter" pitchFamily="34" charset="-120"/>
              </a:rPr>
              <a:t>deterioration / renewed contest</a:t>
            </a:r>
            <a:endParaRPr lang="en-US" sz="1875" dirty="0"/>
          </a:p>
        </p:txBody>
      </p:sp>
      <p:sp>
        <p:nvSpPr>
          <p:cNvPr id="58" name="Text 56"/>
          <p:cNvSpPr/>
          <p:nvPr/>
        </p:nvSpPr>
        <p:spPr>
          <a:xfrm>
            <a:off x="10558537" y="6107906"/>
            <a:ext cx="3562350" cy="347663"/>
          </a:xfrm>
          <a:prstGeom prst="rect">
            <a:avLst/>
          </a:prstGeom>
          <a:noFill/>
          <a:ln/>
        </p:spPr>
        <p:txBody>
          <a:bodyPr wrap="square" lIns="25400" tIns="25400" rIns="25400" bIns="25400" rtlCol="0" anchor="t">
            <a:normAutofit/>
          </a:bodyPr>
          <a:lstStyle/>
          <a:p>
            <a:pPr algn="l" indent="0" marL="0">
              <a:lnSpc>
                <a:spcPct val="98485"/>
              </a:lnSpc>
              <a:buNone/>
            </a:pPr>
            <a:r>
              <a:rPr lang="en-US" sz="1875" dirty="0">
                <a:solidFill>
                  <a:srgbClr val="FF7A00"/>
                </a:solidFill>
                <a:latin typeface="JetBrains Mono" pitchFamily="34" charset="0"/>
                <a:ea typeface="JetBrains Mono" pitchFamily="34" charset="-122"/>
                <a:cs typeface="JetBrains Mono" pitchFamily="34" charset="-120"/>
              </a:rPr>
              <a:t>gray → occupied</a:t>
            </a:r>
            <a:endParaRPr lang="en-US" sz="1875" dirty="0"/>
          </a:p>
        </p:txBody>
      </p:sp>
      <p:sp>
        <p:nvSpPr>
          <p:cNvPr id="59" name="Text 57"/>
          <p:cNvSpPr/>
          <p:nvPr/>
        </p:nvSpPr>
        <p:spPr>
          <a:xfrm>
            <a:off x="13949437" y="6107906"/>
            <a:ext cx="2134791" cy="347663"/>
          </a:xfrm>
          <a:prstGeom prst="rect">
            <a:avLst/>
          </a:prstGeom>
          <a:noFill/>
          <a:ln/>
        </p:spPr>
        <p:txBody>
          <a:bodyPr wrap="square" lIns="25400" tIns="25400" rIns="25400" bIns="25400" rtlCol="0" anchor="t">
            <a:normAutofit/>
          </a:bodyPr>
          <a:lstStyle/>
          <a:p>
            <a:pPr algn="l" indent="0" marL="0">
              <a:lnSpc>
                <a:spcPct val="108333"/>
              </a:lnSpc>
              <a:buNone/>
            </a:pPr>
            <a:r>
              <a:rPr lang="en-US" sz="1875" dirty="0">
                <a:solidFill>
                  <a:srgbClr val="AAB8C2"/>
                </a:solidFill>
                <a:latin typeface="Inter" pitchFamily="34" charset="0"/>
                <a:ea typeface="Inter" pitchFamily="34" charset="-122"/>
                <a:cs typeface="Inter" pitchFamily="34" charset="-120"/>
              </a:rPr>
              <a:t>Russian progress</a:t>
            </a:r>
            <a:endParaRPr lang="en-US" sz="1875" dirty="0"/>
          </a:p>
        </p:txBody>
      </p:sp>
      <p:sp>
        <p:nvSpPr>
          <p:cNvPr id="60" name="Text 58"/>
          <p:cNvSpPr/>
          <p:nvPr/>
        </p:nvSpPr>
        <p:spPr>
          <a:xfrm>
            <a:off x="10558537" y="6512719"/>
            <a:ext cx="3562350" cy="347663"/>
          </a:xfrm>
          <a:prstGeom prst="rect">
            <a:avLst/>
          </a:prstGeom>
          <a:noFill/>
          <a:ln/>
        </p:spPr>
        <p:txBody>
          <a:bodyPr wrap="square" lIns="25400" tIns="25400" rIns="25400" bIns="25400" rtlCol="0" anchor="t">
            <a:normAutofit/>
          </a:bodyPr>
          <a:lstStyle/>
          <a:p>
            <a:pPr algn="l" indent="0" marL="0">
              <a:lnSpc>
                <a:spcPct val="98485"/>
              </a:lnSpc>
              <a:buNone/>
            </a:pPr>
            <a:r>
              <a:rPr lang="en-US" sz="1875" dirty="0">
                <a:solidFill>
                  <a:srgbClr val="FF7A00"/>
                </a:solidFill>
                <a:latin typeface="JetBrains Mono" pitchFamily="34" charset="0"/>
                <a:ea typeface="JetBrains Mono" pitchFamily="34" charset="-122"/>
                <a:cs typeface="JetBrains Mono" pitchFamily="34" charset="-120"/>
              </a:rPr>
              <a:t>liberated → occupied</a:t>
            </a:r>
            <a:endParaRPr lang="en-US" sz="1875" dirty="0"/>
          </a:p>
        </p:txBody>
      </p:sp>
      <p:sp>
        <p:nvSpPr>
          <p:cNvPr id="61" name="Text 59"/>
          <p:cNvSpPr/>
          <p:nvPr/>
        </p:nvSpPr>
        <p:spPr>
          <a:xfrm>
            <a:off x="13949437" y="6512719"/>
            <a:ext cx="1878910" cy="347663"/>
          </a:xfrm>
          <a:prstGeom prst="rect">
            <a:avLst/>
          </a:prstGeom>
          <a:noFill/>
          <a:ln/>
        </p:spPr>
        <p:txBody>
          <a:bodyPr wrap="square" lIns="25400" tIns="25400" rIns="25400" bIns="25400" rtlCol="0" anchor="t">
            <a:normAutofit/>
          </a:bodyPr>
          <a:lstStyle/>
          <a:p>
            <a:pPr algn="l" indent="0" marL="0">
              <a:lnSpc>
                <a:spcPct val="108333"/>
              </a:lnSpc>
              <a:buNone/>
            </a:pPr>
            <a:r>
              <a:rPr lang="en-US" sz="1875" dirty="0">
                <a:solidFill>
                  <a:srgbClr val="AAB8C2"/>
                </a:solidFill>
                <a:latin typeface="Inter" pitchFamily="34" charset="0"/>
                <a:ea typeface="Inter" pitchFamily="34" charset="-122"/>
                <a:cs typeface="Inter" pitchFamily="34" charset="-120"/>
              </a:rPr>
              <a:t>re-lost territory</a:t>
            </a:r>
            <a:endParaRPr lang="en-US" sz="1875" dirty="0"/>
          </a:p>
        </p:txBody>
      </p:sp>
      <p:sp>
        <p:nvSpPr>
          <p:cNvPr id="62" name="Shape 60"/>
          <p:cNvSpPr/>
          <p:nvPr/>
        </p:nvSpPr>
        <p:spPr>
          <a:xfrm>
            <a:off x="10558537" y="7031831"/>
            <a:ext cx="6776963" cy="9525"/>
          </a:xfrm>
          <a:prstGeom prst="rect">
            <a:avLst/>
          </a:prstGeom>
          <a:solidFill>
            <a:srgbClr val="1F3A5F"/>
          </a:solidFill>
          <a:ln/>
        </p:spPr>
      </p:sp>
      <p:sp>
        <p:nvSpPr>
          <p:cNvPr id="63" name="Text 61"/>
          <p:cNvSpPr/>
          <p:nvPr/>
        </p:nvSpPr>
        <p:spPr>
          <a:xfrm>
            <a:off x="10558537" y="7212806"/>
            <a:ext cx="6980272" cy="1109663"/>
          </a:xfrm>
          <a:prstGeom prst="rect">
            <a:avLst/>
          </a:prstGeom>
          <a:noFill/>
          <a:ln/>
        </p:spPr>
        <p:txBody>
          <a:bodyPr wrap="square" lIns="25400" tIns="25400" rIns="25400" bIns="25400" rtlCol="0" anchor="t">
            <a:normAutofit/>
          </a:bodyPr>
          <a:lstStyle/>
          <a:p>
            <a:pPr algn="l" indent="0" marL="0">
              <a:lnSpc>
                <a:spcPct val="113636"/>
              </a:lnSpc>
              <a:buNone/>
            </a:pPr>
            <a:r>
              <a:rPr lang="en-US" sz="1875" dirty="0">
                <a:solidFill>
                  <a:srgbClr val="AAB8C2"/>
                </a:solidFill>
                <a:latin typeface="JetBrains Mono" pitchFamily="34" charset="0"/>
                <a:ea typeface="JetBrains Mono" pitchFamily="34" charset="-122"/>
                <a:cs typeface="JetBrains Mono" pitchFamily="34" charset="-120"/>
              </a:rPr>
              <a:t>39.72 + 28.77 = </a:t>
            </a:r>
            <a:pPr algn="l" indent="0" marL="0">
              <a:lnSpc>
                <a:spcPct val="113636"/>
              </a:lnSpc>
              <a:buNone/>
            </a:pPr>
            <a:r>
              <a:rPr lang="en-US" sz="1875" dirty="0">
                <a:solidFill>
                  <a:srgbClr val="FFFFFF"/>
                </a:solidFill>
                <a:latin typeface="JetBrains Mono" pitchFamily="34" charset="0"/>
                <a:ea typeface="JetBrains Mono" pitchFamily="34" charset="-122"/>
                <a:cs typeface="JetBrains Mono" pitchFamily="34" charset="-120"/>
              </a:rPr>
              <a:t>68.49 km² </a:t>
            </a:r>
            <a:pPr algn="l" indent="0" marL="0">
              <a:lnSpc>
                <a:spcPct val="113636"/>
              </a:lnSpc>
              <a:buNone/>
            </a:pPr>
            <a:r>
              <a:rPr lang="en-US" sz="1875" dirty="0">
                <a:solidFill>
                  <a:srgbClr val="AAB8C2"/>
                </a:solidFill>
                <a:latin typeface="JetBrains Mono" pitchFamily="34" charset="0"/>
                <a:ea typeface="JetBrains Mono" pitchFamily="34" charset="-122"/>
                <a:cs typeface="JetBrains Mono" pitchFamily="34" charset="-120"/>
              </a:rPr>
              <a:t>previously occupied territory no longer mapped occupied newly mapped occupied = </a:t>
            </a:r>
            <a:pPr algn="l" indent="0" marL="0">
              <a:lnSpc>
                <a:spcPct val="113636"/>
              </a:lnSpc>
              <a:buNone/>
            </a:pPr>
            <a:r>
              <a:rPr lang="en-US" sz="1875" dirty="0">
                <a:solidFill>
                  <a:srgbClr val="FF7A00"/>
                </a:solidFill>
                <a:latin typeface="JetBrains Mono" pitchFamily="34" charset="0"/>
                <a:ea typeface="JetBrains Mono" pitchFamily="34" charset="-122"/>
                <a:cs typeface="JetBrains Mono" pitchFamily="34" charset="-120"/>
              </a:rPr>
              <a:t>0.00 km²</a:t>
            </a:r>
            <a:endParaRPr lang="en-US" sz="1875" dirty="0"/>
          </a:p>
        </p:txBody>
      </p:sp>
      <p:sp>
        <p:nvSpPr>
          <p:cNvPr id="64" name="Shape 62"/>
          <p:cNvSpPr/>
          <p:nvPr/>
        </p:nvSpPr>
        <p:spPr>
          <a:xfrm>
            <a:off x="10558537" y="8493919"/>
            <a:ext cx="6776963" cy="1196280"/>
          </a:xfrm>
          <a:prstGeom prst="roundRect">
            <a:avLst>
              <a:gd name="adj" fmla="val 6370"/>
            </a:avLst>
          </a:prstGeom>
          <a:solidFill>
            <a:srgbClr val="1C3F60"/>
          </a:solidFill>
          <a:ln w="9525">
            <a:solidFill>
              <a:srgbClr val="00D1FF"/>
            </a:solidFill>
            <a:prstDash val="solid"/>
          </a:ln>
        </p:spPr>
      </p:sp>
      <p:sp>
        <p:nvSpPr>
          <p:cNvPr id="65" name="Text 63"/>
          <p:cNvSpPr/>
          <p:nvPr/>
        </p:nvSpPr>
        <p:spPr>
          <a:xfrm>
            <a:off x="10796662" y="8732044"/>
            <a:ext cx="6504022" cy="758130"/>
          </a:xfrm>
          <a:prstGeom prst="rect">
            <a:avLst/>
          </a:prstGeom>
          <a:noFill/>
          <a:ln/>
        </p:spPr>
        <p:txBody>
          <a:bodyPr wrap="square" lIns="25400" tIns="25400" rIns="25400" bIns="25400" rtlCol="0" anchor="t">
            <a:normAutofit/>
          </a:bodyPr>
          <a:lstStyle/>
          <a:p>
            <a:pPr algn="l" indent="0" marL="0">
              <a:lnSpc>
                <a:spcPct val="111176"/>
              </a:lnSpc>
              <a:buNone/>
            </a:pPr>
            <a:r>
              <a:rPr lang="en-US" sz="2100" dirty="0">
                <a:solidFill>
                  <a:srgbClr val="FFFFFF"/>
                </a:solidFill>
                <a:latin typeface="Inter" pitchFamily="34" charset="0"/>
                <a:ea typeface="Inter" pitchFamily="34" charset="-122"/>
                <a:cs typeface="Inter" pitchFamily="34" charset="-120"/>
              </a:rPr>
              <a:t>The direction of the transition matters more than the total size of the category.</a:t>
            </a:r>
            <a:endParaRPr lang="en-US" sz="2100" dirty="0"/>
          </a:p>
        </p:txBody>
      </p:sp>
      <p:sp>
        <p:nvSpPr>
          <p:cNvPr id="66" name="Text 64"/>
          <p:cNvSpPr/>
          <p:nvPr/>
        </p:nvSpPr>
        <p:spPr>
          <a:xfrm>
            <a:off x="952500" y="9646965"/>
            <a:ext cx="18021300"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Copyright Walker Rowe, Hypatia Academy Cyprus 2026</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952500" y="778892"/>
            <a:ext cx="18021300" cy="421928"/>
          </a:xfrm>
          <a:prstGeom prst="rect">
            <a:avLst/>
          </a:prstGeom>
          <a:noFill/>
          <a:ln/>
        </p:spPr>
        <p:txBody>
          <a:bodyPr wrap="square" lIns="25400" tIns="25400" rIns="25400" bIns="25400" rtlCol="0" anchor="t">
            <a:normAutofit/>
          </a:bodyPr>
          <a:lstStyle/>
          <a:p>
            <a:pPr algn="l" indent="0" marL="0">
              <a:lnSpc>
                <a:spcPct val="116812"/>
              </a:lnSpc>
              <a:buNone/>
            </a:pPr>
            <a:r>
              <a:rPr lang="en-US" sz="1950" spc="300" kern="0" dirty="0">
                <a:solidFill>
                  <a:srgbClr val="00D1FF"/>
                </a:solidFill>
                <a:latin typeface="JetBrains Mono" pitchFamily="34" charset="0"/>
                <a:ea typeface="JetBrains Mono" pitchFamily="34" charset="-122"/>
                <a:cs typeface="JetBrains Mono" pitchFamily="34" charset="-120"/>
              </a:rPr>
              <a:t>RESULT · 04 AUG → 13 AUG 2026</a:t>
            </a:r>
            <a:endParaRPr lang="en-US" sz="1950" dirty="0"/>
          </a:p>
        </p:txBody>
      </p:sp>
      <p:sp>
        <p:nvSpPr>
          <p:cNvPr id="3" name="Text 1"/>
          <p:cNvSpPr/>
          <p:nvPr/>
        </p:nvSpPr>
        <p:spPr>
          <a:xfrm>
            <a:off x="952500" y="2860923"/>
            <a:ext cx="9794662" cy="1295400"/>
          </a:xfrm>
          <a:prstGeom prst="rect">
            <a:avLst/>
          </a:prstGeom>
          <a:noFill/>
          <a:ln/>
        </p:spPr>
        <p:txBody>
          <a:bodyPr wrap="square" lIns="25400" tIns="25400" rIns="25400" bIns="25400" rtlCol="0" anchor="t">
            <a:normAutofit/>
          </a:bodyPr>
          <a:lstStyle/>
          <a:p>
            <a:pPr algn="l" indent="0" marL="0">
              <a:lnSpc>
                <a:spcPct val="58407"/>
              </a:lnSpc>
              <a:buNone/>
            </a:pPr>
            <a:r>
              <a:rPr lang="en-US" sz="11250" dirty="0">
                <a:solidFill>
                  <a:srgbClr val="FFFFFF"/>
                </a:solidFill>
                <a:latin typeface="Anton" pitchFamily="34" charset="0"/>
                <a:ea typeface="Anton" pitchFamily="34" charset="-122"/>
                <a:cs typeface="Anton" pitchFamily="34" charset="-120"/>
              </a:rPr>
              <a:t>68.49 km²</a:t>
            </a:r>
            <a:endParaRPr lang="en-US" sz="11250" dirty="0"/>
          </a:p>
        </p:txBody>
      </p:sp>
      <p:sp>
        <p:nvSpPr>
          <p:cNvPr id="4" name="Text 2"/>
          <p:cNvSpPr/>
          <p:nvPr/>
        </p:nvSpPr>
        <p:spPr>
          <a:xfrm>
            <a:off x="952500" y="4365873"/>
            <a:ext cx="9171365" cy="960090"/>
          </a:xfrm>
          <a:prstGeom prst="rect">
            <a:avLst/>
          </a:prstGeom>
          <a:noFill/>
          <a:ln/>
        </p:spPr>
        <p:txBody>
          <a:bodyPr wrap="square" lIns="25400" tIns="25400" rIns="25400" bIns="25400" rtlCol="0" anchor="t">
            <a:normAutofit/>
          </a:bodyPr>
          <a:lstStyle/>
          <a:p>
            <a:pPr algn="l" indent="0" marL="0">
              <a:lnSpc>
                <a:spcPct val="72782"/>
              </a:lnSpc>
              <a:buNone/>
            </a:pPr>
            <a:r>
              <a:rPr lang="en-US" sz="3300" spc="17" kern="0" dirty="0">
                <a:solidFill>
                  <a:srgbClr val="FFFFFF"/>
                </a:solidFill>
                <a:latin typeface="Anton" pitchFamily="34" charset="0"/>
                <a:ea typeface="Anton" pitchFamily="34" charset="-122"/>
                <a:cs typeface="Anton" pitchFamily="34" charset="-120"/>
              </a:rPr>
              <a:t>PREVIOUSLY OCCUPIED TERRITORY NO LONGER MAPPED OCCUPIED</a:t>
            </a:r>
            <a:endParaRPr lang="en-US" sz="3300" dirty="0"/>
          </a:p>
        </p:txBody>
      </p:sp>
      <p:sp>
        <p:nvSpPr>
          <p:cNvPr id="5" name="Shape 3"/>
          <p:cNvSpPr/>
          <p:nvPr/>
        </p:nvSpPr>
        <p:spPr>
          <a:xfrm>
            <a:off x="952500" y="5535513"/>
            <a:ext cx="2853779" cy="1718221"/>
          </a:xfrm>
          <a:prstGeom prst="roundRect">
            <a:avLst>
              <a:gd name="adj" fmla="val 4435"/>
            </a:avLst>
          </a:prstGeom>
          <a:solidFill>
            <a:srgbClr val="1C3F60"/>
          </a:solidFill>
          <a:ln w="9525">
            <a:solidFill>
              <a:srgbClr val="00D1FF"/>
            </a:solidFill>
            <a:prstDash val="solid"/>
          </a:ln>
        </p:spPr>
      </p:sp>
      <p:sp>
        <p:nvSpPr>
          <p:cNvPr id="6" name="Text 4"/>
          <p:cNvSpPr/>
          <p:nvPr/>
        </p:nvSpPr>
        <p:spPr>
          <a:xfrm>
            <a:off x="1190625" y="5754588"/>
            <a:ext cx="2615282" cy="533400"/>
          </a:xfrm>
          <a:prstGeom prst="rect">
            <a:avLst/>
          </a:prstGeom>
          <a:noFill/>
          <a:ln/>
        </p:spPr>
        <p:txBody>
          <a:bodyPr wrap="square" lIns="25400" tIns="25400" rIns="25400" bIns="25400" rtlCol="0" anchor="t">
            <a:normAutofit/>
          </a:bodyPr>
          <a:lstStyle/>
          <a:p>
            <a:pPr algn="l" indent="0" marL="0">
              <a:lnSpc>
                <a:spcPct val="66667"/>
              </a:lnSpc>
              <a:buNone/>
            </a:pPr>
            <a:r>
              <a:rPr lang="en-US" sz="3900" dirty="0">
                <a:solidFill>
                  <a:srgbClr val="00D1FF"/>
                </a:solidFill>
                <a:latin typeface="Anton" pitchFamily="34" charset="0"/>
                <a:ea typeface="Anton" pitchFamily="34" charset="-122"/>
                <a:cs typeface="Anton" pitchFamily="34" charset="-120"/>
              </a:rPr>
              <a:t>39.72 km²</a:t>
            </a:r>
            <a:endParaRPr lang="en-US" sz="3900" dirty="0"/>
          </a:p>
        </p:txBody>
      </p:sp>
      <p:sp>
        <p:nvSpPr>
          <p:cNvPr id="7" name="Text 5"/>
          <p:cNvSpPr/>
          <p:nvPr/>
        </p:nvSpPr>
        <p:spPr>
          <a:xfrm>
            <a:off x="1190625" y="6326088"/>
            <a:ext cx="2453729" cy="746671"/>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FFFFFF"/>
                </a:solidFill>
                <a:latin typeface="JetBrains Mono" pitchFamily="34" charset="0"/>
                <a:ea typeface="JetBrains Mono" pitchFamily="34" charset="-122"/>
                <a:cs typeface="JetBrains Mono" pitchFamily="34" charset="-120"/>
              </a:rPr>
              <a:t>occupied → liberated</a:t>
            </a:r>
            <a:endParaRPr lang="en-US" sz="1800" dirty="0"/>
          </a:p>
        </p:txBody>
      </p:sp>
      <p:sp>
        <p:nvSpPr>
          <p:cNvPr id="8" name="Shape 6"/>
          <p:cNvSpPr/>
          <p:nvPr/>
        </p:nvSpPr>
        <p:spPr>
          <a:xfrm>
            <a:off x="3977729" y="5535513"/>
            <a:ext cx="2853779" cy="1718221"/>
          </a:xfrm>
          <a:prstGeom prst="roundRect">
            <a:avLst>
              <a:gd name="adj" fmla="val 4435"/>
            </a:avLst>
          </a:prstGeom>
          <a:solidFill>
            <a:srgbClr val="122F4A"/>
          </a:solidFill>
          <a:ln w="9525">
            <a:solidFill>
              <a:srgbClr val="1F3A5F"/>
            </a:solidFill>
            <a:prstDash val="solid"/>
          </a:ln>
        </p:spPr>
      </p:sp>
      <p:sp>
        <p:nvSpPr>
          <p:cNvPr id="9" name="Text 7"/>
          <p:cNvSpPr/>
          <p:nvPr/>
        </p:nvSpPr>
        <p:spPr>
          <a:xfrm>
            <a:off x="4215854" y="5754588"/>
            <a:ext cx="2615282" cy="533400"/>
          </a:xfrm>
          <a:prstGeom prst="rect">
            <a:avLst/>
          </a:prstGeom>
          <a:noFill/>
          <a:ln/>
        </p:spPr>
        <p:txBody>
          <a:bodyPr wrap="square" lIns="25400" tIns="25400" rIns="25400" bIns="25400" rtlCol="0" anchor="t">
            <a:normAutofit/>
          </a:bodyPr>
          <a:lstStyle/>
          <a:p>
            <a:pPr algn="l" indent="0" marL="0">
              <a:lnSpc>
                <a:spcPct val="66667"/>
              </a:lnSpc>
              <a:buNone/>
            </a:pPr>
            <a:r>
              <a:rPr lang="en-US" sz="3900" dirty="0">
                <a:solidFill>
                  <a:srgbClr val="AAB8C2"/>
                </a:solidFill>
                <a:latin typeface="Anton" pitchFamily="34" charset="0"/>
                <a:ea typeface="Anton" pitchFamily="34" charset="-122"/>
                <a:cs typeface="Anton" pitchFamily="34" charset="-120"/>
              </a:rPr>
              <a:t>28.77 km²</a:t>
            </a:r>
            <a:endParaRPr lang="en-US" sz="3900" dirty="0"/>
          </a:p>
        </p:txBody>
      </p:sp>
      <p:sp>
        <p:nvSpPr>
          <p:cNvPr id="10" name="Text 8"/>
          <p:cNvSpPr/>
          <p:nvPr/>
        </p:nvSpPr>
        <p:spPr>
          <a:xfrm>
            <a:off x="4215854" y="6326088"/>
            <a:ext cx="2453729" cy="746671"/>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FFFFFF"/>
                </a:solidFill>
                <a:latin typeface="JetBrains Mono" pitchFamily="34" charset="0"/>
                <a:ea typeface="JetBrains Mono" pitchFamily="34" charset="-122"/>
                <a:cs typeface="JetBrains Mono" pitchFamily="34" charset="-120"/>
              </a:rPr>
              <a:t>occupied → gray/contested</a:t>
            </a:r>
            <a:endParaRPr lang="en-US" sz="1800" dirty="0"/>
          </a:p>
        </p:txBody>
      </p:sp>
      <p:sp>
        <p:nvSpPr>
          <p:cNvPr id="11" name="Shape 9"/>
          <p:cNvSpPr/>
          <p:nvPr/>
        </p:nvSpPr>
        <p:spPr>
          <a:xfrm>
            <a:off x="7002959" y="5535513"/>
            <a:ext cx="2853779" cy="1718221"/>
          </a:xfrm>
          <a:prstGeom prst="roundRect">
            <a:avLst>
              <a:gd name="adj" fmla="val 4435"/>
            </a:avLst>
          </a:prstGeom>
          <a:solidFill>
            <a:srgbClr val="122F4A"/>
          </a:solidFill>
          <a:ln w="9525">
            <a:solidFill>
              <a:srgbClr val="1F3A5F"/>
            </a:solidFill>
            <a:prstDash val="solid"/>
          </a:ln>
        </p:spPr>
      </p:sp>
      <p:sp>
        <p:nvSpPr>
          <p:cNvPr id="12" name="Text 10"/>
          <p:cNvSpPr/>
          <p:nvPr/>
        </p:nvSpPr>
        <p:spPr>
          <a:xfrm>
            <a:off x="7241084" y="5754588"/>
            <a:ext cx="2615282" cy="533400"/>
          </a:xfrm>
          <a:prstGeom prst="rect">
            <a:avLst/>
          </a:prstGeom>
          <a:noFill/>
          <a:ln/>
        </p:spPr>
        <p:txBody>
          <a:bodyPr wrap="square" lIns="25400" tIns="25400" rIns="25400" bIns="25400" rtlCol="0" anchor="t">
            <a:normAutofit/>
          </a:bodyPr>
          <a:lstStyle/>
          <a:p>
            <a:pPr algn="l" indent="0" marL="0">
              <a:lnSpc>
                <a:spcPct val="66667"/>
              </a:lnSpc>
              <a:buNone/>
            </a:pPr>
            <a:r>
              <a:rPr lang="en-US" sz="3900" dirty="0">
                <a:solidFill>
                  <a:srgbClr val="FF7A00"/>
                </a:solidFill>
                <a:latin typeface="Anton" pitchFamily="34" charset="0"/>
                <a:ea typeface="Anton" pitchFamily="34" charset="-122"/>
                <a:cs typeface="Anton" pitchFamily="34" charset="-120"/>
              </a:rPr>
              <a:t>0.00 km²</a:t>
            </a:r>
            <a:endParaRPr lang="en-US" sz="3900" dirty="0"/>
          </a:p>
        </p:txBody>
      </p:sp>
      <p:sp>
        <p:nvSpPr>
          <p:cNvPr id="13" name="Text 11"/>
          <p:cNvSpPr/>
          <p:nvPr/>
        </p:nvSpPr>
        <p:spPr>
          <a:xfrm>
            <a:off x="7241084" y="6326088"/>
            <a:ext cx="2453729" cy="746671"/>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FFFFFF"/>
                </a:solidFill>
                <a:latin typeface="JetBrains Mono" pitchFamily="34" charset="0"/>
                <a:ea typeface="JetBrains Mono" pitchFamily="34" charset="-122"/>
                <a:cs typeface="JetBrains Mono" pitchFamily="34" charset="-120"/>
              </a:rPr>
              <a:t>newly mapped occupied</a:t>
            </a:r>
            <a:endParaRPr lang="en-US" sz="1800" dirty="0"/>
          </a:p>
        </p:txBody>
      </p:sp>
      <p:sp>
        <p:nvSpPr>
          <p:cNvPr id="14" name="Text 12"/>
          <p:cNvSpPr/>
          <p:nvPr/>
        </p:nvSpPr>
        <p:spPr>
          <a:xfrm>
            <a:off x="952500" y="7501384"/>
            <a:ext cx="9171365" cy="784771"/>
          </a:xfrm>
          <a:prstGeom prst="rect">
            <a:avLst/>
          </a:prstGeom>
          <a:noFill/>
          <a:ln/>
        </p:spPr>
        <p:txBody>
          <a:bodyPr wrap="square" lIns="25400" tIns="25400" rIns="25400" bIns="25400" rtlCol="0" anchor="t">
            <a:normAutofit/>
          </a:bodyPr>
          <a:lstStyle/>
          <a:p>
            <a:pPr algn="l" indent="0" marL="0">
              <a:lnSpc>
                <a:spcPct val="115294"/>
              </a:lnSpc>
              <a:buNone/>
            </a:pPr>
            <a:r>
              <a:rPr lang="en-US" sz="2100" dirty="0">
                <a:solidFill>
                  <a:srgbClr val="FFFFFF"/>
                </a:solidFill>
                <a:latin typeface="Inter" pitchFamily="34" charset="0"/>
                <a:ea typeface="Inter" pitchFamily="34" charset="-122"/>
                <a:cs typeface="Inter" pitchFamily="34" charset="-120"/>
              </a:rPr>
              <a:t>68.49 km² is </a:t>
            </a:r>
            <a:pPr algn="l" indent="0" marL="0">
              <a:lnSpc>
                <a:spcPct val="115294"/>
              </a:lnSpc>
              <a:buNone/>
            </a:pPr>
            <a:r>
              <a:rPr lang="en-US" sz="2100" b="1" dirty="0">
                <a:solidFill>
                  <a:srgbClr val="FFFFFF"/>
                </a:solidFill>
                <a:latin typeface="Inter" pitchFamily="34" charset="0"/>
                <a:ea typeface="Inter" pitchFamily="34" charset="-122"/>
                <a:cs typeface="Inter" pitchFamily="34" charset="-120"/>
              </a:rPr>
              <a:t>not </a:t>
            </a:r>
            <a:pPr algn="l" indent="0" marL="0">
              <a:lnSpc>
                <a:spcPct val="115294"/>
              </a:lnSpc>
              <a:buNone/>
            </a:pPr>
            <a:r>
              <a:rPr lang="en-US" sz="2100" dirty="0">
                <a:solidFill>
                  <a:srgbClr val="FFFFFF"/>
                </a:solidFill>
                <a:latin typeface="Inter" pitchFamily="34" charset="0"/>
                <a:ea typeface="Inter" pitchFamily="34" charset="-122"/>
                <a:cs typeface="Inter" pitchFamily="34" charset="-120"/>
              </a:rPr>
              <a:t>all liberated territory. Only the 39.72 km² </a:t>
            </a:r>
            <a:pPr algn="l" indent="0" marL="0">
              <a:lnSpc>
                <a:spcPct val="115294"/>
              </a:lnSpc>
              <a:buNone/>
            </a:pPr>
            <a:r>
              <a:rPr lang="en-US" sz="2100" dirty="0">
                <a:solidFill>
                  <a:srgbClr val="00D1FF"/>
                </a:solidFill>
                <a:latin typeface="JetBrains Mono" pitchFamily="34" charset="0"/>
                <a:ea typeface="JetBrains Mono" pitchFamily="34" charset="-122"/>
                <a:cs typeface="JetBrains Mono" pitchFamily="34" charset="-120"/>
              </a:rPr>
              <a:t>occupied → liberated </a:t>
            </a:r>
            <a:pPr algn="l" indent="0" marL="0">
              <a:lnSpc>
                <a:spcPct val="115294"/>
              </a:lnSpc>
              <a:buNone/>
            </a:pPr>
            <a:r>
              <a:rPr lang="en-US" sz="2100" dirty="0">
                <a:solidFill>
                  <a:srgbClr val="FFFFFF"/>
                </a:solidFill>
                <a:latin typeface="Inter" pitchFamily="34" charset="0"/>
                <a:ea typeface="Inter" pitchFamily="34" charset="-122"/>
                <a:cs typeface="Inter" pitchFamily="34" charset="-120"/>
              </a:rPr>
              <a:t>portion is described as confirmed reclaimed.</a:t>
            </a:r>
            <a:endParaRPr lang="en-US" sz="2100" dirty="0"/>
          </a:p>
        </p:txBody>
      </p:sp>
      <p:sp>
        <p:nvSpPr>
          <p:cNvPr id="15" name="Shape 13"/>
          <p:cNvSpPr/>
          <p:nvPr/>
        </p:nvSpPr>
        <p:spPr>
          <a:xfrm>
            <a:off x="10390138" y="1505620"/>
            <a:ext cx="6964412" cy="5297463"/>
          </a:xfrm>
          <a:prstGeom prst="roundRect">
            <a:avLst>
              <a:gd name="adj" fmla="val 1438"/>
            </a:avLst>
          </a:prstGeom>
          <a:solidFill>
            <a:srgbClr val="122F4A"/>
          </a:solidFill>
          <a:ln w="9525">
            <a:solidFill>
              <a:srgbClr val="1F3A5F"/>
            </a:solidFill>
            <a:prstDash val="solid"/>
          </a:ln>
        </p:spPr>
      </p:sp>
      <p:pic>
        <p:nvPicPr>
          <p:cNvPr id="1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390138" y="1505620"/>
            <a:ext cx="6964412" cy="5297463"/>
          </a:xfrm>
          <a:prstGeom prst="rect">
            <a:avLst/>
          </a:prstGeom>
        </p:spPr>
      </p:pic>
      <p:sp>
        <p:nvSpPr>
          <p:cNvPr id="17" name="Shape 14"/>
          <p:cNvSpPr/>
          <p:nvPr/>
        </p:nvSpPr>
        <p:spPr>
          <a:xfrm>
            <a:off x="10390138" y="7012632"/>
            <a:ext cx="6945362" cy="1714500"/>
          </a:xfrm>
          <a:prstGeom prst="roundRect">
            <a:avLst>
              <a:gd name="adj" fmla="val 4444"/>
            </a:avLst>
          </a:prstGeom>
          <a:solidFill>
            <a:srgbClr val="122F4A"/>
          </a:solidFill>
          <a:ln w="9525">
            <a:solidFill>
              <a:srgbClr val="1F3A5F"/>
            </a:solidFill>
            <a:prstDash val="solid"/>
          </a:ln>
        </p:spPr>
      </p:sp>
      <p:sp>
        <p:nvSpPr>
          <p:cNvPr id="18" name="Text 15"/>
          <p:cNvSpPr/>
          <p:nvPr/>
        </p:nvSpPr>
        <p:spPr>
          <a:xfrm>
            <a:off x="10628263" y="7250757"/>
            <a:ext cx="6663185" cy="419100"/>
          </a:xfrm>
          <a:prstGeom prst="rect">
            <a:avLst/>
          </a:prstGeom>
          <a:noFill/>
          <a:ln/>
        </p:spPr>
        <p:txBody>
          <a:bodyPr wrap="square" lIns="25400" tIns="25400" rIns="25400" bIns="25400" rtlCol="0" anchor="t">
            <a:normAutofit/>
          </a:bodyPr>
          <a:lstStyle/>
          <a:p>
            <a:pPr algn="l" indent="0" marL="0">
              <a:lnSpc>
                <a:spcPct val="121212"/>
              </a:lnSpc>
              <a:buNone/>
            </a:pPr>
            <a:r>
              <a:rPr lang="en-US" sz="1875" spc="150" kern="0" dirty="0">
                <a:solidFill>
                  <a:srgbClr val="AAB8C2"/>
                </a:solidFill>
                <a:latin typeface="JetBrains Mono" pitchFamily="34" charset="0"/>
                <a:ea typeface="JetBrains Mono" pitchFamily="34" charset="-122"/>
                <a:cs typeface="JetBrains Mono" pitchFamily="34" charset="-120"/>
              </a:rPr>
              <a:t>ANALYSIS BOUNDARY</a:t>
            </a:r>
            <a:endParaRPr lang="en-US" sz="1875" dirty="0"/>
          </a:p>
        </p:txBody>
      </p:sp>
      <p:sp>
        <p:nvSpPr>
          <p:cNvPr id="19" name="Text 16"/>
          <p:cNvSpPr/>
          <p:nvPr/>
        </p:nvSpPr>
        <p:spPr>
          <a:xfrm>
            <a:off x="10628263" y="7727007"/>
            <a:ext cx="6663185" cy="419100"/>
          </a:xfrm>
          <a:prstGeom prst="rect">
            <a:avLst/>
          </a:prstGeom>
          <a:noFill/>
          <a:ln/>
        </p:spPr>
        <p:txBody>
          <a:bodyPr wrap="square" lIns="25400" tIns="25400" rIns="25400" bIns="25400" rtlCol="0" anchor="t">
            <a:normAutofit/>
          </a:bodyPr>
          <a:lstStyle/>
          <a:p>
            <a:pPr algn="l" indent="0" marL="0">
              <a:lnSpc>
                <a:spcPct val="121212"/>
              </a:lnSpc>
              <a:buNone/>
            </a:pPr>
            <a:r>
              <a:rPr lang="en-US" sz="1875" dirty="0">
                <a:solidFill>
                  <a:srgbClr val="FFFFFF"/>
                </a:solidFill>
                <a:latin typeface="JetBrains Mono" pitchFamily="34" charset="0"/>
                <a:ea typeface="JetBrains Mono" pitchFamily="34" charset="-122"/>
                <a:cs typeface="JetBrains Mono" pitchFamily="34" charset="-120"/>
              </a:rPr>
              <a:t>NW 48.09186, 36.54102</a:t>
            </a:r>
            <a:endParaRPr lang="en-US" sz="1875" dirty="0"/>
          </a:p>
        </p:txBody>
      </p:sp>
      <p:sp>
        <p:nvSpPr>
          <p:cNvPr id="20" name="Text 17"/>
          <p:cNvSpPr/>
          <p:nvPr/>
        </p:nvSpPr>
        <p:spPr>
          <a:xfrm>
            <a:off x="10628263" y="8108007"/>
            <a:ext cx="6663185" cy="419100"/>
          </a:xfrm>
          <a:prstGeom prst="rect">
            <a:avLst/>
          </a:prstGeom>
          <a:noFill/>
          <a:ln/>
        </p:spPr>
        <p:txBody>
          <a:bodyPr wrap="square" lIns="25400" tIns="25400" rIns="25400" bIns="25400" rtlCol="0" anchor="t">
            <a:normAutofit/>
          </a:bodyPr>
          <a:lstStyle/>
          <a:p>
            <a:pPr algn="l" indent="0" marL="0">
              <a:lnSpc>
                <a:spcPct val="121212"/>
              </a:lnSpc>
              <a:buNone/>
            </a:pPr>
            <a:r>
              <a:rPr lang="en-US" sz="1875" dirty="0">
                <a:solidFill>
                  <a:srgbClr val="FFFFFF"/>
                </a:solidFill>
                <a:latin typeface="JetBrains Mono" pitchFamily="34" charset="0"/>
                <a:ea typeface="JetBrains Mono" pitchFamily="34" charset="-122"/>
                <a:cs typeface="JetBrains Mono" pitchFamily="34" charset="-120"/>
              </a:rPr>
              <a:t>SE 47.91895, 36.80103</a:t>
            </a:r>
            <a:endParaRPr lang="en-US" sz="1875" dirty="0"/>
          </a:p>
        </p:txBody>
      </p:sp>
      <p:sp>
        <p:nvSpPr>
          <p:cNvPr id="21" name="Text 18"/>
          <p:cNvSpPr/>
          <p:nvPr/>
        </p:nvSpPr>
        <p:spPr>
          <a:xfrm>
            <a:off x="10390138" y="8936682"/>
            <a:ext cx="7153723" cy="704850"/>
          </a:xfrm>
          <a:prstGeom prst="rect">
            <a:avLst/>
          </a:prstGeom>
          <a:noFill/>
          <a:ln/>
        </p:spPr>
        <p:txBody>
          <a:bodyPr wrap="square" lIns="25400" tIns="25400" rIns="25400" bIns="25400" rtlCol="0" anchor="t">
            <a:normAutofit/>
          </a:bodyPr>
          <a:lstStyle/>
          <a:p>
            <a:pPr algn="l" indent="0" marL="0">
              <a:lnSpc>
                <a:spcPct val="116667"/>
              </a:lnSpc>
              <a:buNone/>
            </a:pPr>
            <a:r>
              <a:rPr lang="en-US" sz="1875" dirty="0">
                <a:solidFill>
                  <a:srgbClr val="AAB8C2"/>
                </a:solidFill>
                <a:latin typeface="Inter" pitchFamily="34" charset="0"/>
                <a:ea typeface="Inter" pitchFamily="34" charset="-122"/>
                <a:cs typeface="Inter" pitchFamily="34" charset="-120"/>
              </a:rPr>
              <a:t>The hotspot straddles the Dnipropetrovsk–Donetsk oblast boundary.</a:t>
            </a:r>
            <a:endParaRPr lang="en-US" sz="1875" dirty="0"/>
          </a:p>
        </p:txBody>
      </p:sp>
      <p:sp>
        <p:nvSpPr>
          <p:cNvPr id="22" name="Text 19"/>
          <p:cNvSpPr/>
          <p:nvPr/>
        </p:nvSpPr>
        <p:spPr>
          <a:xfrm>
            <a:off x="952500" y="9646965"/>
            <a:ext cx="18021300"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Copyright Walker Rowe, Hypatia Academy Cyprus 2026</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952500" y="1699840"/>
            <a:ext cx="18021300" cy="678135"/>
          </a:xfrm>
          <a:prstGeom prst="rect">
            <a:avLst/>
          </a:prstGeom>
          <a:noFill/>
          <a:ln/>
        </p:spPr>
        <p:txBody>
          <a:bodyPr wrap="square" lIns="25400" tIns="25400" rIns="25400" bIns="25400" rtlCol="0" anchor="t">
            <a:normAutofit/>
          </a:bodyPr>
          <a:lstStyle/>
          <a:p>
            <a:pPr algn="l" indent="0" marL="0">
              <a:lnSpc>
                <a:spcPct val="69637"/>
              </a:lnSpc>
              <a:buNone/>
            </a:pPr>
            <a:r>
              <a:rPr lang="en-US" sz="4800" spc="24" kern="0" dirty="0">
                <a:solidFill>
                  <a:srgbClr val="FFFFFF"/>
                </a:solidFill>
                <a:latin typeface="Anton" pitchFamily="34" charset="0"/>
                <a:ea typeface="Anton" pitchFamily="34" charset="-122"/>
                <a:cs typeface="Anton" pitchFamily="34" charset="-120"/>
              </a:rPr>
              <a:t>VALIDATION AND LIMITATIONS</a:t>
            </a:r>
            <a:endParaRPr lang="en-US" sz="4800" dirty="0"/>
          </a:p>
        </p:txBody>
      </p:sp>
      <p:sp>
        <p:nvSpPr>
          <p:cNvPr id="3" name="Shape 1"/>
          <p:cNvSpPr/>
          <p:nvPr/>
        </p:nvSpPr>
        <p:spPr>
          <a:xfrm>
            <a:off x="952500" y="2758976"/>
            <a:ext cx="8001000" cy="3788048"/>
          </a:xfrm>
          <a:prstGeom prst="roundRect">
            <a:avLst>
              <a:gd name="adj" fmla="val 2012"/>
            </a:avLst>
          </a:prstGeom>
          <a:solidFill>
            <a:srgbClr val="122F4A"/>
          </a:solidFill>
          <a:ln w="9525">
            <a:solidFill>
              <a:srgbClr val="1F3A5F"/>
            </a:solidFill>
            <a:prstDash val="solid"/>
          </a:ln>
        </p:spPr>
      </p:sp>
      <p:sp>
        <p:nvSpPr>
          <p:cNvPr id="4" name="Text 2"/>
          <p:cNvSpPr/>
          <p:nvPr/>
        </p:nvSpPr>
        <p:spPr>
          <a:xfrm>
            <a:off x="1304925" y="3092351"/>
            <a:ext cx="8025765"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spc="225" kern="0" dirty="0">
                <a:solidFill>
                  <a:srgbClr val="00D1FF"/>
                </a:solidFill>
                <a:latin typeface="JetBrains Mono" pitchFamily="34" charset="0"/>
                <a:ea typeface="JetBrains Mono" pitchFamily="34" charset="-122"/>
                <a:cs typeface="JetBrains Mono" pitchFamily="34" charset="-120"/>
              </a:rPr>
              <a:t>WHAT IT ESTABLISHES</a:t>
            </a:r>
            <a:endParaRPr lang="en-US" sz="1800" dirty="0"/>
          </a:p>
        </p:txBody>
      </p:sp>
      <p:sp>
        <p:nvSpPr>
          <p:cNvPr id="5" name="Text 3"/>
          <p:cNvSpPr/>
          <p:nvPr/>
        </p:nvSpPr>
        <p:spPr>
          <a:xfrm>
            <a:off x="1410653" y="3675236"/>
            <a:ext cx="7266623" cy="2576512"/>
          </a:xfrm>
          <a:prstGeom prst="rect">
            <a:avLst/>
          </a:prstGeom>
          <a:noFill/>
          <a:ln/>
        </p:spPr>
        <p:txBody>
          <a:bodyPr wrap="square" lIns="25400" tIns="25400" rIns="25400" bIns="25400" rtlCol="0" anchor="t">
            <a:normAutofit/>
          </a:bodyPr>
          <a:lstStyle/>
          <a:p>
            <a:pPr algn="l" marL="180023" indent="-180023">
              <a:lnSpc>
                <a:spcPct val="124615"/>
              </a:lnSpc>
              <a:buSzPct val="100000"/>
              <a:buChar char="•"/>
              <a:tabLst>
                <a:tab pos="180023" algn="l"/>
              </a:tabLst>
            </a:pPr>
            <a:r>
              <a:rPr lang="en-US" sz="2025" dirty="0">
                <a:solidFill>
                  <a:srgbClr val="FFFFFF"/>
                </a:solidFill>
                <a:latin typeface="Inter" pitchFamily="34" charset="0"/>
                <a:ea typeface="Inter" pitchFamily="34" charset="-122"/>
                <a:cs typeface="Inter" pitchFamily="34" charset="-120"/>
              </a:rPr>
              <a:t>Same coordinates compared on two dates</a:t>
            </a:r>
            <a:endParaRPr lang="en-US" sz="2025" dirty="0"/>
          </a:p>
          <a:p>
            <a:pPr algn="l" marL="180023" indent="-180023">
              <a:lnSpc>
                <a:spcPct val="124615"/>
              </a:lnSpc>
              <a:buSzPct val="100000"/>
              <a:buChar char="•"/>
              <a:tabLst>
                <a:tab pos="180023" algn="l"/>
              </a:tabLst>
            </a:pPr>
            <a:r>
              <a:rPr lang="en-US" sz="2025" dirty="0">
                <a:solidFill>
                  <a:srgbClr val="FFFFFF"/>
                </a:solidFill>
                <a:latin typeface="Inter" pitchFamily="34" charset="0"/>
                <a:ea typeface="Inter" pitchFamily="34" charset="-122"/>
                <a:cs typeface="Inter" pitchFamily="34" charset="-120"/>
              </a:rPr>
              <a:t>Exact vector polygon intersection, not pixel counting</a:t>
            </a:r>
            <a:endParaRPr lang="en-US" sz="2025" dirty="0"/>
          </a:p>
          <a:p>
            <a:pPr algn="l" marL="180023" indent="-180023">
              <a:lnSpc>
                <a:spcPct val="124615"/>
              </a:lnSpc>
              <a:buSzPct val="100000"/>
              <a:buChar char="•"/>
              <a:tabLst>
                <a:tab pos="180023" algn="l"/>
              </a:tabLst>
            </a:pPr>
            <a:r>
              <a:rPr lang="en-US" sz="2025" dirty="0">
                <a:solidFill>
                  <a:srgbClr val="FFFFFF"/>
                </a:solidFill>
                <a:latin typeface="Inter" pitchFamily="34" charset="0"/>
                <a:ea typeface="Inter" pitchFamily="34" charset="-122"/>
                <a:cs typeface="Inter" pitchFamily="34" charset="-120"/>
              </a:rPr>
              <a:t>Equal-area projection for area measurement</a:t>
            </a:r>
            <a:endParaRPr lang="en-US" sz="2025" dirty="0"/>
          </a:p>
          <a:p>
            <a:pPr algn="l" marL="180023" indent="-180023">
              <a:lnSpc>
                <a:spcPct val="124615"/>
              </a:lnSpc>
              <a:buSzPct val="100000"/>
              <a:buChar char="•"/>
              <a:tabLst>
                <a:tab pos="180023" algn="l"/>
              </a:tabLst>
            </a:pPr>
            <a:r>
              <a:rPr lang="en-US" sz="2025" dirty="0">
                <a:solidFill>
                  <a:srgbClr val="FFFFFF"/>
                </a:solidFill>
                <a:latin typeface="Inter" pitchFamily="34" charset="0"/>
                <a:ea typeface="Inter" pitchFamily="34" charset="-122"/>
                <a:cs typeface="Inter" pitchFamily="34" charset="-120"/>
              </a:rPr>
              <a:t>Only occupied → liberated overlap counted as reclaimed</a:t>
            </a:r>
            <a:endParaRPr lang="en-US" sz="2025" dirty="0"/>
          </a:p>
          <a:p>
            <a:pPr algn="l" marL="180023" indent="-180023">
              <a:lnSpc>
                <a:spcPct val="124615"/>
              </a:lnSpc>
              <a:buSzPct val="100000"/>
              <a:buChar char="•"/>
              <a:tabLst>
                <a:tab pos="180023" algn="l"/>
              </a:tabLst>
            </a:pPr>
            <a:r>
              <a:rPr lang="en-US" sz="2025" dirty="0">
                <a:solidFill>
                  <a:srgbClr val="FFFFFF"/>
                </a:solidFill>
                <a:latin typeface="Inter" pitchFamily="34" charset="0"/>
                <a:ea typeface="Inter" pitchFamily="34" charset="-122"/>
                <a:cs typeface="Inter" pitchFamily="34" charset="-120"/>
              </a:rPr>
              <a:t>Search-window area never confused with changed area</a:t>
            </a:r>
            <a:endParaRPr lang="en-US" sz="2025" dirty="0"/>
          </a:p>
        </p:txBody>
      </p:sp>
      <p:sp>
        <p:nvSpPr>
          <p:cNvPr id="6" name="Shape 4"/>
          <p:cNvSpPr/>
          <p:nvPr/>
        </p:nvSpPr>
        <p:spPr>
          <a:xfrm>
            <a:off x="9334500" y="2758976"/>
            <a:ext cx="8001000" cy="3788048"/>
          </a:xfrm>
          <a:prstGeom prst="roundRect">
            <a:avLst>
              <a:gd name="adj" fmla="val 2012"/>
            </a:avLst>
          </a:prstGeom>
          <a:solidFill>
            <a:srgbClr val="122F4A"/>
          </a:solidFill>
          <a:ln w="9525">
            <a:solidFill>
              <a:srgbClr val="1F3A5F"/>
            </a:solidFill>
            <a:prstDash val="solid"/>
          </a:ln>
        </p:spPr>
      </p:sp>
      <p:sp>
        <p:nvSpPr>
          <p:cNvPr id="7" name="Text 5"/>
          <p:cNvSpPr/>
          <p:nvPr/>
        </p:nvSpPr>
        <p:spPr>
          <a:xfrm>
            <a:off x="9686925" y="3092351"/>
            <a:ext cx="8025765"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spc="225" kern="0" dirty="0">
                <a:solidFill>
                  <a:srgbClr val="FF7A00"/>
                </a:solidFill>
                <a:latin typeface="JetBrains Mono" pitchFamily="34" charset="0"/>
                <a:ea typeface="JetBrains Mono" pitchFamily="34" charset="-122"/>
                <a:cs typeface="JetBrains Mono" pitchFamily="34" charset="-120"/>
              </a:rPr>
              <a:t>WHAT IT DOES NOT ESTABLISH</a:t>
            </a:r>
            <a:endParaRPr lang="en-US" sz="1800" dirty="0"/>
          </a:p>
        </p:txBody>
      </p:sp>
      <p:sp>
        <p:nvSpPr>
          <p:cNvPr id="8" name="Text 6"/>
          <p:cNvSpPr/>
          <p:nvPr/>
        </p:nvSpPr>
        <p:spPr>
          <a:xfrm>
            <a:off x="9792653" y="3675236"/>
            <a:ext cx="7266623" cy="2576512"/>
          </a:xfrm>
          <a:prstGeom prst="rect">
            <a:avLst/>
          </a:prstGeom>
          <a:noFill/>
          <a:ln/>
        </p:spPr>
        <p:txBody>
          <a:bodyPr wrap="square" lIns="25400" tIns="25400" rIns="25400" bIns="25400" rtlCol="0" anchor="t">
            <a:normAutofit/>
          </a:bodyPr>
          <a:lstStyle/>
          <a:p>
            <a:pPr algn="l" marL="180023" indent="-180023">
              <a:lnSpc>
                <a:spcPct val="124615"/>
              </a:lnSpc>
              <a:buSzPct val="100000"/>
              <a:buChar char="•"/>
              <a:tabLst>
                <a:tab pos="180023" algn="l"/>
              </a:tabLst>
            </a:pPr>
            <a:r>
              <a:rPr lang="en-US" sz="2025" dirty="0">
                <a:solidFill>
                  <a:srgbClr val="AAB8C2"/>
                </a:solidFill>
                <a:latin typeface="Inter" pitchFamily="34" charset="0"/>
                <a:ea typeface="Inter" pitchFamily="34" charset="-122"/>
                <a:cs typeface="Inter" pitchFamily="34" charset="-120"/>
              </a:rPr>
              <a:t>DeepState may redraw or correct polygons</a:t>
            </a:r>
            <a:endParaRPr lang="en-US" sz="2025" dirty="0"/>
          </a:p>
          <a:p>
            <a:pPr algn="l" marL="180023" indent="-180023">
              <a:lnSpc>
                <a:spcPct val="124615"/>
              </a:lnSpc>
              <a:buSzPct val="100000"/>
              <a:buChar char="•"/>
              <a:tabLst>
                <a:tab pos="180023" algn="l"/>
              </a:tabLst>
            </a:pPr>
            <a:r>
              <a:rPr lang="en-US" sz="2025" dirty="0">
                <a:solidFill>
                  <a:srgbClr val="AAB8C2"/>
                </a:solidFill>
                <a:latin typeface="Inter" pitchFamily="34" charset="0"/>
                <a:ea typeface="Inter" pitchFamily="34" charset="-122"/>
                <a:cs typeface="Inter" pitchFamily="34" charset="-120"/>
              </a:rPr>
              <a:t>Updates can be delayed</a:t>
            </a:r>
            <a:endParaRPr lang="en-US" sz="2025" dirty="0"/>
          </a:p>
          <a:p>
            <a:pPr algn="l" marL="180023" indent="-180023">
              <a:lnSpc>
                <a:spcPct val="124615"/>
              </a:lnSpc>
              <a:buSzPct val="100000"/>
              <a:buChar char="•"/>
              <a:tabLst>
                <a:tab pos="180023" algn="l"/>
              </a:tabLst>
            </a:pPr>
            <a:r>
              <a:rPr lang="en-US" sz="2025" dirty="0">
                <a:solidFill>
                  <a:srgbClr val="AAB8C2"/>
                </a:solidFill>
                <a:latin typeface="Inter" pitchFamily="34" charset="0"/>
                <a:ea typeface="Inter" pitchFamily="34" charset="-122"/>
                <a:cs typeface="Inter" pitchFamily="34" charset="-120"/>
              </a:rPr>
              <a:t>Source geometry defines the spatial precision</a:t>
            </a:r>
            <a:endParaRPr lang="en-US" sz="2025" dirty="0"/>
          </a:p>
          <a:p>
            <a:pPr algn="l" marL="180023" indent="-180023">
              <a:lnSpc>
                <a:spcPct val="124615"/>
              </a:lnSpc>
              <a:buSzPct val="100000"/>
              <a:buChar char="•"/>
              <a:tabLst>
                <a:tab pos="180023" algn="l"/>
              </a:tabLst>
            </a:pPr>
            <a:r>
              <a:rPr lang="en-US" sz="2025" dirty="0">
                <a:solidFill>
                  <a:srgbClr val="AAB8C2"/>
                </a:solidFill>
                <a:latin typeface="Inter" pitchFamily="34" charset="0"/>
                <a:ea typeface="Inter" pitchFamily="34" charset="-122"/>
                <a:cs typeface="Inter" pitchFamily="34" charset="-120"/>
              </a:rPr>
              <a:t>Snapshots must be complete to compare</a:t>
            </a:r>
            <a:endParaRPr lang="en-US" sz="2025" dirty="0"/>
          </a:p>
          <a:p>
            <a:pPr algn="l" marL="180023" indent="-180023">
              <a:lnSpc>
                <a:spcPct val="124615"/>
              </a:lnSpc>
              <a:buSzPct val="100000"/>
              <a:buChar char="•"/>
              <a:tabLst>
                <a:tab pos="180023" algn="l"/>
              </a:tabLst>
            </a:pPr>
            <a:r>
              <a:rPr lang="en-US" sz="2025" dirty="0">
                <a:solidFill>
                  <a:srgbClr val="AAB8C2"/>
                </a:solidFill>
                <a:latin typeface="Inter" pitchFamily="34" charset="0"/>
                <a:ea typeface="Inter" pitchFamily="34" charset="-122"/>
                <a:cs typeface="Inter" pitchFamily="34" charset="-120"/>
              </a:rPr>
              <a:t>Where troops physically were, on the ground</a:t>
            </a:r>
            <a:endParaRPr lang="en-US" sz="2025" dirty="0"/>
          </a:p>
        </p:txBody>
      </p:sp>
      <p:sp>
        <p:nvSpPr>
          <p:cNvPr id="9" name="Shape 7"/>
          <p:cNvSpPr/>
          <p:nvPr/>
        </p:nvSpPr>
        <p:spPr>
          <a:xfrm>
            <a:off x="952500" y="6966124"/>
            <a:ext cx="16383000" cy="9525"/>
          </a:xfrm>
          <a:prstGeom prst="rect">
            <a:avLst/>
          </a:prstGeom>
          <a:solidFill>
            <a:srgbClr val="1F3A5F"/>
          </a:solidFill>
          <a:ln/>
        </p:spPr>
      </p:sp>
      <p:sp>
        <p:nvSpPr>
          <p:cNvPr id="10" name="Text 8"/>
          <p:cNvSpPr/>
          <p:nvPr/>
        </p:nvSpPr>
        <p:spPr>
          <a:xfrm>
            <a:off x="952500" y="7242349"/>
            <a:ext cx="9156649" cy="1478161"/>
          </a:xfrm>
          <a:prstGeom prst="rect">
            <a:avLst/>
          </a:prstGeom>
          <a:noFill/>
          <a:ln/>
        </p:spPr>
        <p:txBody>
          <a:bodyPr wrap="square" lIns="25400" tIns="25400" rIns="25400" bIns="25400" rtlCol="0" anchor="t">
            <a:normAutofit/>
          </a:bodyPr>
          <a:lstStyle/>
          <a:p>
            <a:pPr algn="l" indent="0" marL="0">
              <a:lnSpc>
                <a:spcPct val="116308"/>
              </a:lnSpc>
              <a:buNone/>
            </a:pPr>
            <a:r>
              <a:rPr lang="en-US" sz="2025" dirty="0">
                <a:solidFill>
                  <a:srgbClr val="FFFFFF"/>
                </a:solidFill>
                <a:latin typeface="Inter" pitchFamily="34" charset="0"/>
                <a:ea typeface="Inter" pitchFamily="34" charset="-122"/>
                <a:cs typeface="Inter" pitchFamily="34" charset="-120"/>
              </a:rPr>
              <a:t>This analysis measures changes in DeepState’s published geographic classifications. It does not independently determine battlefield ground truth — a map redraw, delayed update, or source correction can appear as a calculated transition.</a:t>
            </a:r>
            <a:endParaRPr lang="en-US" sz="2025" dirty="0"/>
          </a:p>
        </p:txBody>
      </p:sp>
      <p:sp>
        <p:nvSpPr>
          <p:cNvPr id="11" name="Text 9"/>
          <p:cNvSpPr/>
          <p:nvPr/>
        </p:nvSpPr>
        <p:spPr>
          <a:xfrm>
            <a:off x="10223450" y="7242349"/>
            <a:ext cx="7325411" cy="1478161"/>
          </a:xfrm>
          <a:prstGeom prst="rect">
            <a:avLst/>
          </a:prstGeom>
          <a:noFill/>
          <a:ln/>
        </p:spPr>
        <p:txBody>
          <a:bodyPr wrap="square" lIns="25400" tIns="25400" rIns="25400" bIns="25400" rtlCol="0" anchor="t">
            <a:normAutofit/>
          </a:bodyPr>
          <a:lstStyle/>
          <a:p>
            <a:pPr algn="l" indent="0" marL="0">
              <a:lnSpc>
                <a:spcPct val="116667"/>
              </a:lnSpc>
              <a:buNone/>
            </a:pPr>
            <a:r>
              <a:rPr lang="en-US" sz="1875" dirty="0">
                <a:solidFill>
                  <a:srgbClr val="AAB8C2"/>
                </a:solidFill>
                <a:latin typeface="Inter" pitchFamily="34" charset="0"/>
                <a:ea typeface="Inter" pitchFamily="34" charset="-122"/>
                <a:cs typeface="Inter" pitchFamily="34" charset="-120"/>
              </a:rPr>
              <a:t>So 68.49 km² means: that area was classified occupied in the earlier snapshot, and liberated or contested/unknown in the later one.</a:t>
            </a:r>
            <a:endParaRPr lang="en-US" sz="1875" dirty="0"/>
          </a:p>
        </p:txBody>
      </p:sp>
      <p:sp>
        <p:nvSpPr>
          <p:cNvPr id="12" name="Text 10"/>
          <p:cNvSpPr/>
          <p:nvPr/>
        </p:nvSpPr>
        <p:spPr>
          <a:xfrm>
            <a:off x="952500" y="9646965"/>
            <a:ext cx="18021300" cy="392385"/>
          </a:xfrm>
          <a:prstGeom prst="rect">
            <a:avLst/>
          </a:prstGeom>
          <a:noFill/>
          <a:ln/>
        </p:spPr>
        <p:txBody>
          <a:bodyPr wrap="square" lIns="25400" tIns="25400" rIns="25400" bIns="25400" rtlCol="0" anchor="t">
            <a:normAutofit/>
          </a:bodyPr>
          <a:lstStyle/>
          <a:p>
            <a:pPr algn="l" indent="0" marL="0">
              <a:lnSpc>
                <a:spcPct val="118095"/>
              </a:lnSpc>
              <a:buNone/>
            </a:pPr>
            <a:r>
              <a:rPr lang="en-US" sz="1800" dirty="0">
                <a:solidFill>
                  <a:srgbClr val="AAB8C2"/>
                </a:solidFill>
                <a:latin typeface="JetBrains Mono" pitchFamily="34" charset="0"/>
                <a:ea typeface="JetBrains Mono" pitchFamily="34" charset="-122"/>
                <a:cs typeface="JetBrains Mono" pitchFamily="34" charset="-120"/>
              </a:rPr>
              <a:t>Copyright Walker Rowe, Hypatia Academy Cyprus 2026</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2026-08-14T11:17:41Z</dcterms:created>
  <dcterms:modified xsi:type="dcterms:W3CDTF">2026-08-14T11:17:41Z</dcterms:modified>
</cp:coreProperties>
</file>